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Source Code Pro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DS2NRUfeNLDJPpFndMwugBS+H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7.xml"/><Relationship Id="rId22" Type="http://schemas.openxmlformats.org/officeDocument/2006/relationships/font" Target="fonts/OpenSans-italic.fntdata"/><Relationship Id="rId10" Type="http://schemas.openxmlformats.org/officeDocument/2006/relationships/slide" Target="slides/slide6.xml"/><Relationship Id="rId21" Type="http://schemas.openxmlformats.org/officeDocument/2006/relationships/font" Target="fonts/OpenSans-bold.fntdata"/><Relationship Id="rId13" Type="http://schemas.openxmlformats.org/officeDocument/2006/relationships/font" Target="fonts/Roboto-bold.fntdata"/><Relationship Id="rId24" Type="http://customschemas.google.com/relationships/presentationmetadata" Target="metadata"/><Relationship Id="rId12" Type="http://schemas.openxmlformats.org/officeDocument/2006/relationships/font" Target="fonts/Roboto-regular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SourceCodePro-bold.fntdata"/><Relationship Id="rId16" Type="http://schemas.openxmlformats.org/officeDocument/2006/relationships/font" Target="fonts/SourceCodePro-regular.fntdata"/><Relationship Id="rId5" Type="http://schemas.openxmlformats.org/officeDocument/2006/relationships/slide" Target="slides/slide1.xml"/><Relationship Id="rId19" Type="http://schemas.openxmlformats.org/officeDocument/2006/relationships/font" Target="fonts/SourceCodePro-boldItalic.fntdata"/><Relationship Id="rId6" Type="http://schemas.openxmlformats.org/officeDocument/2006/relationships/slide" Target="slides/slide2.xml"/><Relationship Id="rId18" Type="http://schemas.openxmlformats.org/officeDocument/2006/relationships/font" Target="fonts/SourceCodePr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355cda9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355cda9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355cda95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355cda95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d355cda95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d355cda955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ce906e763_4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dce906e763_4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dce906e763_4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ce906e763_4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dce906e763_4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dce906e763_4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355cda955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d355cda955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355cda955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55cda955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d355cda955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355cda955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355cda955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d355cda955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355cda955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g3d355cda95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d355cda955_0_0"/>
          <p:cNvSpPr/>
          <p:nvPr/>
        </p:nvSpPr>
        <p:spPr>
          <a:xfrm>
            <a:off x="989409" y="996553"/>
            <a:ext cx="7165200" cy="31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d355cda955_0_0"/>
          <p:cNvSpPr/>
          <p:nvPr/>
        </p:nvSpPr>
        <p:spPr>
          <a:xfrm>
            <a:off x="989409" y="996553"/>
            <a:ext cx="7165200" cy="28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d355cda955_0_0"/>
          <p:cNvSpPr/>
          <p:nvPr/>
        </p:nvSpPr>
        <p:spPr>
          <a:xfrm>
            <a:off x="989409" y="4118372"/>
            <a:ext cx="7165200" cy="28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d355cda955_0_0"/>
          <p:cNvSpPr/>
          <p:nvPr/>
        </p:nvSpPr>
        <p:spPr>
          <a:xfrm>
            <a:off x="1418034" y="1453753"/>
            <a:ext cx="63078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4145"/>
              <a:buFont typeface="Roboto"/>
              <a:buNone/>
            </a:pPr>
            <a: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LAB 1: CPU SCHEDULING</a:t>
            </a:r>
            <a:b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4145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ALGORITHMS (FCFS)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d355cda955_0_0"/>
          <p:cNvSpPr/>
          <p:nvPr/>
        </p:nvSpPr>
        <p:spPr>
          <a:xfrm>
            <a:off x="3075384" y="3339703"/>
            <a:ext cx="991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808"/>
              <a:buFont typeface="Open Sans"/>
              <a:buNone/>
            </a:pPr>
            <a:r>
              <a:rPr b="1" i="0" lang="en-US" sz="1808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OCC: 1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d355cda955_0_0"/>
          <p:cNvSpPr/>
          <p:nvPr/>
        </p:nvSpPr>
        <p:spPr>
          <a:xfrm>
            <a:off x="4638080" y="3339703"/>
            <a:ext cx="1430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808"/>
              <a:buFont typeface="Open Sans"/>
              <a:buNone/>
            </a:pPr>
            <a:r>
              <a:rPr b="1" i="0" lang="en-US" sz="1808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GROUP: 8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g3d355cda955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g3d355cda955_0_11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d355cda955_0_11"/>
          <p:cNvSpPr/>
          <p:nvPr/>
        </p:nvSpPr>
        <p:spPr>
          <a:xfrm>
            <a:off x="571500" y="901898"/>
            <a:ext cx="8001000" cy="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d355cda955_0_11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First-Come, First-Served (FCFS)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d355cda955_0_11"/>
          <p:cNvSpPr/>
          <p:nvPr/>
        </p:nvSpPr>
        <p:spPr>
          <a:xfrm>
            <a:off x="571500" y="1330523"/>
            <a:ext cx="40005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The simplest CPU scheduling algorithm.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d355cda955_0_11"/>
          <p:cNvSpPr/>
          <p:nvPr/>
        </p:nvSpPr>
        <p:spPr>
          <a:xfrm>
            <a:off x="571500" y="1743075"/>
            <a:ext cx="40005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Processes are executed in the exact order they arrive in the ready queue.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d355cda955_0_11"/>
          <p:cNvSpPr/>
          <p:nvPr/>
        </p:nvSpPr>
        <p:spPr>
          <a:xfrm>
            <a:off x="571500" y="2389584"/>
            <a:ext cx="40005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0225" spcFirstLastPara="1" rIns="0" wrap="square" tIns="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Open Sans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Non-preemptive: Once a process starts, it runs until completion.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d355cda955_0_11"/>
          <p:cNvSpPr/>
          <p:nvPr/>
        </p:nvSpPr>
        <p:spPr>
          <a:xfrm>
            <a:off x="571500" y="3143250"/>
            <a:ext cx="4000500" cy="928800"/>
          </a:xfrm>
          <a:prstGeom prst="rect">
            <a:avLst/>
          </a:prstGeom>
          <a:solidFill>
            <a:srgbClr val="FF7B72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d355cda955_0_11"/>
          <p:cNvSpPr/>
          <p:nvPr/>
        </p:nvSpPr>
        <p:spPr>
          <a:xfrm>
            <a:off x="571500" y="3143250"/>
            <a:ext cx="35700" cy="9288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d355cda955_0_11"/>
          <p:cNvSpPr/>
          <p:nvPr/>
        </p:nvSpPr>
        <p:spPr>
          <a:xfrm>
            <a:off x="571500" y="3143250"/>
            <a:ext cx="4000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90"/>
              <a:buFont typeface="Open Sans"/>
              <a:buNone/>
            </a:pPr>
            <a:r>
              <a:rPr b="1" i="0" lang="en-US" sz="1090" u="none" cap="none" strike="noStrike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Drawback:</a:t>
            </a:r>
            <a:r>
              <a:rPr b="0" i="0" lang="en-US" sz="1159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 Can cause a "convoy effect" where short processes get stuck waiting for a long process.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d355cda955_0_11"/>
          <p:cNvSpPr/>
          <p:nvPr/>
        </p:nvSpPr>
        <p:spPr>
          <a:xfrm>
            <a:off x="5000625" y="1187648"/>
            <a:ext cx="3571800" cy="28575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38D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g3d355cda955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0523"/>
            <a:ext cx="10715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g3d355cda955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43075"/>
            <a:ext cx="10715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g3d355cda955_0_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89584"/>
            <a:ext cx="10715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g3d355cda955_0_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2063" y="1483612"/>
            <a:ext cx="3429000" cy="226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g3dce906e763_4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dce906e763_4_6"/>
          <p:cNvSpPr/>
          <p:nvPr/>
        </p:nvSpPr>
        <p:spPr>
          <a:xfrm>
            <a:off x="428625" y="428625"/>
            <a:ext cx="8286900" cy="48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dce906e763_4_6"/>
          <p:cNvSpPr/>
          <p:nvPr/>
        </p:nvSpPr>
        <p:spPr>
          <a:xfrm>
            <a:off x="428625" y="901898"/>
            <a:ext cx="8286900" cy="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dce906e763_4_6"/>
          <p:cNvSpPr/>
          <p:nvPr/>
        </p:nvSpPr>
        <p:spPr>
          <a:xfrm>
            <a:off x="428625" y="428625"/>
            <a:ext cx="8286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Flowchart &amp; Pseudocode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dce906e763_4_6"/>
          <p:cNvSpPr/>
          <p:nvPr/>
        </p:nvSpPr>
        <p:spPr>
          <a:xfrm>
            <a:off x="428625" y="1187650"/>
            <a:ext cx="4682100" cy="3286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dce906e763_4_6"/>
          <p:cNvSpPr/>
          <p:nvPr/>
        </p:nvSpPr>
        <p:spPr>
          <a:xfrm>
            <a:off x="557213" y="1316236"/>
            <a:ext cx="37791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090"/>
              <a:buFont typeface="Roboto"/>
              <a:buNone/>
            </a:pPr>
            <a:r>
              <a:rPr b="1" i="0" lang="en-US" sz="1090" u="none" cap="none" strike="noStrike">
                <a:solidFill>
                  <a:srgbClr val="38D353"/>
                </a:solidFill>
                <a:latin typeface="Roboto"/>
                <a:ea typeface="Roboto"/>
                <a:cs typeface="Roboto"/>
                <a:sym typeface="Roboto"/>
              </a:rPr>
              <a:t>PSEUDOCODE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dce906e763_4_6"/>
          <p:cNvSpPr/>
          <p:nvPr/>
        </p:nvSpPr>
        <p:spPr>
          <a:xfrm>
            <a:off x="557225" y="1643075"/>
            <a:ext cx="4553400" cy="24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 Input number of processes n and their BurstTime[i].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 Set all ArrivalTime[i] = 0.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 CompletionTime[0] = BurstTime[0]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4. For i = 1 to n-1: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CompletionTime[i] = CompletionTime[i-1] + BurstTime[i]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5. For i = 0 to n-1: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TurnAroundTime[i] = CompletionTime[i] - ArrivalTime[i]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6. For i = 0 to n-1: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WaitingTime[i] = TurnAroundTime[i] - BurstTime[i]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42"/>
              <a:buFont typeface="Source Code Pro"/>
              <a:buNone/>
            </a:pPr>
            <a:r>
              <a:rPr b="0" i="0" lang="en-US" sz="942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7. Display Process, Burst Time, Waiting Time, Turnaround Time.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dce906e763_4_6"/>
          <p:cNvSpPr/>
          <p:nvPr/>
        </p:nvSpPr>
        <p:spPr>
          <a:xfrm>
            <a:off x="5500697" y="1187661"/>
            <a:ext cx="3214800" cy="32862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dce906e763_4_6"/>
          <p:cNvSpPr/>
          <p:nvPr/>
        </p:nvSpPr>
        <p:spPr>
          <a:xfrm>
            <a:off x="6190094" y="4608167"/>
            <a:ext cx="183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34"/>
              <a:buFont typeface="Open Sans"/>
              <a:buNone/>
            </a:pPr>
            <a:r>
              <a:rPr b="0" i="1" lang="en-US" sz="834" u="none" cap="none" strike="noStrike">
                <a:solidFill>
                  <a:srgbClr val="8B949E"/>
                </a:solidFill>
                <a:latin typeface="Open Sans"/>
                <a:ea typeface="Open Sans"/>
                <a:cs typeface="Open Sans"/>
                <a:sym typeface="Open Sans"/>
              </a:rPr>
              <a:t>Figure: FCFS Scheduling Logic Flow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g3dce906e763_4_6" title="Process Scheduling Time-2026-03-31-1505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0638" y="1369638"/>
            <a:ext cx="674925" cy="29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g3dce906e763_4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5090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dce906e763_4_20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dce906e763_4_20"/>
          <p:cNvSpPr/>
          <p:nvPr/>
        </p:nvSpPr>
        <p:spPr>
          <a:xfrm>
            <a:off x="571500" y="901898"/>
            <a:ext cx="8001000" cy="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dce906e763_4_20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Code Implementation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dce906e763_4_20"/>
          <p:cNvSpPr/>
          <p:nvPr/>
        </p:nvSpPr>
        <p:spPr>
          <a:xfrm>
            <a:off x="571500" y="1045225"/>
            <a:ext cx="8001000" cy="37629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g3dce906e763_4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950" y="1227637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dce906e763_4_20"/>
          <p:cNvSpPr/>
          <p:nvPr/>
        </p:nvSpPr>
        <p:spPr>
          <a:xfrm>
            <a:off x="1048509" y="1216742"/>
            <a:ext cx="2841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885"/>
              <a:buFont typeface="Source Code Pro"/>
              <a:buNone/>
            </a:pPr>
            <a:r>
              <a:rPr b="1" i="0" lang="en-US" sz="885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JAVA FCFS IMPLEMENTATION (CORE LOGIC)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dce906e763_4_20"/>
          <p:cNvSpPr/>
          <p:nvPr/>
        </p:nvSpPr>
        <p:spPr>
          <a:xfrm>
            <a:off x="817950" y="1467675"/>
            <a:ext cx="7668600" cy="3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Calculate Completion Time</a:t>
            </a:r>
            <a:endParaRPr i="0" sz="1042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completionTime[0] = burstTime[0];</a:t>
            </a:r>
            <a:r>
              <a:rPr i="0" lang="en-US" sz="1042" u="none" cap="none" strike="noStrike">
                <a:solidFill>
                  <a:srgbClr val="D1D5DA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i="0" lang="en-US" sz="1042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CT P1 = BT P1</a:t>
            </a:r>
            <a:endParaRPr i="0" sz="1042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1; i &lt; n; i++) {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// Completion Time = previous Completion Time + Burst Time</a:t>
            </a:r>
            <a:endParaRPr i="0" sz="1042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completionTime[i] = completionTime[i - 1] + burstTime[i];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Calculate Turnaround Time</a:t>
            </a:r>
            <a:endParaRPr i="0" sz="1042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turnAroundTime[i] = completionTime[i] - arrivalTime[i];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// Calculate Waiting Time</a:t>
            </a:r>
            <a:endParaRPr i="0" sz="1042" u="none" cap="none" strike="noStrike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n; i++) {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waitingTime[i] = turnAroundTime[i] - burstTime[i];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8620"/>
              </a:lnSpc>
              <a:spcBef>
                <a:spcPts val="0"/>
              </a:spcBef>
              <a:spcAft>
                <a:spcPts val="0"/>
              </a:spcAft>
              <a:buClr>
                <a:srgbClr val="D1D5DA"/>
              </a:buClr>
              <a:buSzPts val="942"/>
              <a:buFont typeface="Arial"/>
              <a:buNone/>
            </a:pPr>
            <a:r>
              <a:rPr i="0" lang="en-US" sz="1042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0" sz="1042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g3d355cda955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d355cda955_0_56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d355cda955_0_56"/>
          <p:cNvSpPr/>
          <p:nvPr/>
        </p:nvSpPr>
        <p:spPr>
          <a:xfrm>
            <a:off x="571500" y="901898"/>
            <a:ext cx="8001000" cy="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d355cda955_0_56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Program Sample Output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355cda955_0_56"/>
          <p:cNvSpPr/>
          <p:nvPr/>
        </p:nvSpPr>
        <p:spPr>
          <a:xfrm>
            <a:off x="571500" y="1116211"/>
            <a:ext cx="80010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193"/>
              <a:buFont typeface="Open Sans"/>
              <a:buNone/>
            </a:pPr>
            <a:r>
              <a:rPr b="1" i="0" lang="en-US" sz="1193" u="none" cap="none" strike="noStrike">
                <a:solidFill>
                  <a:srgbClr val="38D353"/>
                </a:solidFill>
                <a:latin typeface="Open Sans"/>
                <a:ea typeface="Open Sans"/>
                <a:cs typeface="Open Sans"/>
                <a:sym typeface="Open Sans"/>
              </a:rPr>
              <a:t>Input scenario: 3 processes. P1=10, P2=5, P3=8.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d355cda955_0_56"/>
          <p:cNvSpPr/>
          <p:nvPr/>
        </p:nvSpPr>
        <p:spPr>
          <a:xfrm>
            <a:off x="571500" y="1635919"/>
            <a:ext cx="1418700" cy="510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355cda955_0_56"/>
          <p:cNvSpPr/>
          <p:nvPr/>
        </p:nvSpPr>
        <p:spPr>
          <a:xfrm>
            <a:off x="571500" y="2125266"/>
            <a:ext cx="1418700" cy="21300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355cda955_0_56"/>
          <p:cNvSpPr/>
          <p:nvPr/>
        </p:nvSpPr>
        <p:spPr>
          <a:xfrm>
            <a:off x="571500" y="1635919"/>
            <a:ext cx="1418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Process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355cda955_0_56"/>
          <p:cNvSpPr/>
          <p:nvPr/>
        </p:nvSpPr>
        <p:spPr>
          <a:xfrm>
            <a:off x="1990204" y="1635919"/>
            <a:ext cx="1854900" cy="510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d355cda955_0_56"/>
          <p:cNvSpPr/>
          <p:nvPr/>
        </p:nvSpPr>
        <p:spPr>
          <a:xfrm>
            <a:off x="1990204" y="2125266"/>
            <a:ext cx="1854900" cy="21300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355cda955_0_56"/>
          <p:cNvSpPr/>
          <p:nvPr/>
        </p:nvSpPr>
        <p:spPr>
          <a:xfrm>
            <a:off x="1990204" y="1635919"/>
            <a:ext cx="18549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Burst Time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355cda955_0_56"/>
          <p:cNvSpPr/>
          <p:nvPr/>
        </p:nvSpPr>
        <p:spPr>
          <a:xfrm>
            <a:off x="3845068" y="1635919"/>
            <a:ext cx="2145600" cy="510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355cda955_0_56"/>
          <p:cNvSpPr/>
          <p:nvPr/>
        </p:nvSpPr>
        <p:spPr>
          <a:xfrm>
            <a:off x="3845068" y="2125266"/>
            <a:ext cx="2145600" cy="21300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355cda955_0_56"/>
          <p:cNvSpPr/>
          <p:nvPr/>
        </p:nvSpPr>
        <p:spPr>
          <a:xfrm>
            <a:off x="3845068" y="1635919"/>
            <a:ext cx="21456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Waiting Time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355cda955_0_56"/>
          <p:cNvSpPr/>
          <p:nvPr/>
        </p:nvSpPr>
        <p:spPr>
          <a:xfrm>
            <a:off x="5990676" y="1635919"/>
            <a:ext cx="2581800" cy="510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355cda955_0_56"/>
          <p:cNvSpPr/>
          <p:nvPr/>
        </p:nvSpPr>
        <p:spPr>
          <a:xfrm>
            <a:off x="5990676" y="2125266"/>
            <a:ext cx="2581800" cy="21300"/>
          </a:xfrm>
          <a:prstGeom prst="rect">
            <a:avLst/>
          </a:prstGeom>
          <a:solidFill>
            <a:srgbClr val="38D3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355cda955_0_56"/>
          <p:cNvSpPr/>
          <p:nvPr/>
        </p:nvSpPr>
        <p:spPr>
          <a:xfrm>
            <a:off x="5990676" y="1635919"/>
            <a:ext cx="25818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Turnaround Time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355cda955_0_56"/>
          <p:cNvSpPr/>
          <p:nvPr/>
        </p:nvSpPr>
        <p:spPr>
          <a:xfrm>
            <a:off x="571500" y="2135981"/>
            <a:ext cx="14187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355cda955_0_56"/>
          <p:cNvSpPr/>
          <p:nvPr/>
        </p:nvSpPr>
        <p:spPr>
          <a:xfrm>
            <a:off x="1990204" y="2135981"/>
            <a:ext cx="1854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d355cda955_0_56"/>
          <p:cNvSpPr/>
          <p:nvPr/>
        </p:nvSpPr>
        <p:spPr>
          <a:xfrm>
            <a:off x="3845068" y="2135981"/>
            <a:ext cx="21456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d355cda955_0_56"/>
          <p:cNvSpPr/>
          <p:nvPr/>
        </p:nvSpPr>
        <p:spPr>
          <a:xfrm>
            <a:off x="5990676" y="2135981"/>
            <a:ext cx="25818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355cda955_0_56"/>
          <p:cNvSpPr/>
          <p:nvPr/>
        </p:nvSpPr>
        <p:spPr>
          <a:xfrm>
            <a:off x="571500" y="2639616"/>
            <a:ext cx="1418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355cda955_0_56"/>
          <p:cNvSpPr/>
          <p:nvPr/>
        </p:nvSpPr>
        <p:spPr>
          <a:xfrm>
            <a:off x="1990204" y="2639616"/>
            <a:ext cx="1854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d355cda955_0_56"/>
          <p:cNvSpPr/>
          <p:nvPr/>
        </p:nvSpPr>
        <p:spPr>
          <a:xfrm>
            <a:off x="3845068" y="2639616"/>
            <a:ext cx="2145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d355cda955_0_56"/>
          <p:cNvSpPr/>
          <p:nvPr/>
        </p:nvSpPr>
        <p:spPr>
          <a:xfrm>
            <a:off x="5990676" y="2639616"/>
            <a:ext cx="25818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15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355cda955_0_56"/>
          <p:cNvSpPr/>
          <p:nvPr/>
        </p:nvSpPr>
        <p:spPr>
          <a:xfrm>
            <a:off x="571500" y="3146822"/>
            <a:ext cx="1418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355cda955_0_56"/>
          <p:cNvSpPr/>
          <p:nvPr/>
        </p:nvSpPr>
        <p:spPr>
          <a:xfrm>
            <a:off x="1990204" y="3146822"/>
            <a:ext cx="1854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355cda955_0_56"/>
          <p:cNvSpPr/>
          <p:nvPr/>
        </p:nvSpPr>
        <p:spPr>
          <a:xfrm>
            <a:off x="3845068" y="3146822"/>
            <a:ext cx="2145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69"/>
              <a:buFont typeface="Source Code Pro"/>
              <a:buNone/>
            </a:pPr>
            <a:r>
              <a:rPr b="0" i="0" lang="en-US" sz="126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15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355cda955_0_56"/>
          <p:cNvSpPr/>
          <p:nvPr/>
        </p:nvSpPr>
        <p:spPr>
          <a:xfrm>
            <a:off x="5990676" y="3146822"/>
            <a:ext cx="25818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193"/>
              <a:buFont typeface="Source Code Pro"/>
              <a:buNone/>
            </a:pPr>
            <a:r>
              <a:rPr b="1" i="0" lang="en-US" sz="1193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23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g3d355cda955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d355cda955_0_89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d355cda955_0_89"/>
          <p:cNvSpPr/>
          <p:nvPr/>
        </p:nvSpPr>
        <p:spPr>
          <a:xfrm>
            <a:off x="571500" y="901898"/>
            <a:ext cx="8001000" cy="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d355cda955_0_89"/>
          <p:cNvSpPr/>
          <p:nvPr/>
        </p:nvSpPr>
        <p:spPr>
          <a:xfrm>
            <a:off x="571500" y="428625"/>
            <a:ext cx="8001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436"/>
              <a:buFont typeface="Roboto"/>
              <a:buNone/>
            </a:pPr>
            <a:r>
              <a:rPr b="1" i="0" lang="en-US" sz="2436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Code Demonstration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d355cda955_0_89"/>
          <p:cNvSpPr/>
          <p:nvPr/>
        </p:nvSpPr>
        <p:spPr>
          <a:xfrm>
            <a:off x="571500" y="1044773"/>
            <a:ext cx="8001000" cy="2721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355cda955_0_89"/>
          <p:cNvSpPr/>
          <p:nvPr/>
        </p:nvSpPr>
        <p:spPr>
          <a:xfrm>
            <a:off x="571500" y="1044773"/>
            <a:ext cx="8001000" cy="2679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355cda955_0_89"/>
          <p:cNvSpPr/>
          <p:nvPr/>
        </p:nvSpPr>
        <p:spPr>
          <a:xfrm>
            <a:off x="1214438" y="1116211"/>
            <a:ext cx="1032300" cy="1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27"/>
              <a:buFont typeface="Source Code Pro"/>
              <a:buNone/>
            </a:pPr>
            <a:r>
              <a:rPr b="0" i="0" lang="en-US" sz="727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bash — LAB_1.java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355cda955_0_89"/>
          <p:cNvSpPr/>
          <p:nvPr/>
        </p:nvSpPr>
        <p:spPr>
          <a:xfrm>
            <a:off x="728663" y="1469827"/>
            <a:ext cx="7686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090"/>
              <a:buFont typeface="Source Code Pro"/>
              <a:buNone/>
            </a:pPr>
            <a:r>
              <a:rPr b="1" i="0" lang="en-US" sz="1090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ubuntu@sandbox:~$</a:t>
            </a:r>
            <a:r>
              <a:rPr b="0" i="0" lang="en-US" sz="115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javac LAB_1.java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d355cda955_0_89"/>
          <p:cNvSpPr/>
          <p:nvPr/>
        </p:nvSpPr>
        <p:spPr>
          <a:xfrm>
            <a:off x="728663" y="1721281"/>
            <a:ext cx="7686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38D353"/>
              </a:buClr>
              <a:buSzPts val="1090"/>
              <a:buFont typeface="Source Code Pro"/>
              <a:buNone/>
            </a:pPr>
            <a:r>
              <a:rPr b="1" i="0" lang="en-US" sz="1090" u="none" cap="none" strike="noStrike">
                <a:solidFill>
                  <a:srgbClr val="38D35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ubuntu@sandbox:~$</a:t>
            </a:r>
            <a:r>
              <a:rPr b="0" i="0" lang="en-US" sz="1159" u="none" cap="none" strike="noStrike">
                <a:solidFill>
                  <a:srgbClr val="C9D1D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java LAB_1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355cda955_0_89"/>
          <p:cNvSpPr/>
          <p:nvPr/>
        </p:nvSpPr>
        <p:spPr>
          <a:xfrm>
            <a:off x="728663" y="2265629"/>
            <a:ext cx="7686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Enter number of processes: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355cda955_0_89"/>
          <p:cNvSpPr/>
          <p:nvPr/>
        </p:nvSpPr>
        <p:spPr>
          <a:xfrm>
            <a:off x="728663" y="2517084"/>
            <a:ext cx="7686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Enter Burst Time for P1: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355cda955_0_89"/>
          <p:cNvSpPr/>
          <p:nvPr/>
        </p:nvSpPr>
        <p:spPr>
          <a:xfrm>
            <a:off x="728663" y="2768538"/>
            <a:ext cx="7686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Enter Burst Time for P2: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d355cda955_0_89"/>
          <p:cNvSpPr/>
          <p:nvPr/>
        </p:nvSpPr>
        <p:spPr>
          <a:xfrm>
            <a:off x="728663" y="3019992"/>
            <a:ext cx="7686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8B949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Enter Burst Time for P3: </a:t>
            </a: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355cda955_0_89"/>
          <p:cNvSpPr/>
          <p:nvPr/>
        </p:nvSpPr>
        <p:spPr>
          <a:xfrm>
            <a:off x="728663" y="3342884"/>
            <a:ext cx="7686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59"/>
              <a:buFont typeface="Source Code Pro"/>
              <a:buNone/>
            </a:pPr>
            <a:r>
              <a:rPr b="0" i="0" lang="en-US" sz="1159" u="none" cap="none" strike="noStrike">
                <a:solidFill>
                  <a:srgbClr val="58A6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 Running FCFS Algorithm... ]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g3d355cda955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9244" y="4022964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d355cda955_0_89"/>
          <p:cNvSpPr/>
          <p:nvPr/>
        </p:nvSpPr>
        <p:spPr>
          <a:xfrm>
            <a:off x="1368307" y="4394439"/>
            <a:ext cx="10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Open Sans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1. Switch to IDE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g3d355cda955_0_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4810" y="4022964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d355cda955_0_89"/>
          <p:cNvSpPr/>
          <p:nvPr/>
        </p:nvSpPr>
        <p:spPr>
          <a:xfrm>
            <a:off x="3985292" y="4394439"/>
            <a:ext cx="11448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Open Sans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2. Compile &amp; Run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g3d355cda955_0_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6803" y="4022964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d355cda955_0_89"/>
          <p:cNvSpPr/>
          <p:nvPr/>
        </p:nvSpPr>
        <p:spPr>
          <a:xfrm>
            <a:off x="6723720" y="4394439"/>
            <a:ext cx="10518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87"/>
              <a:buFont typeface="Open Sans"/>
              <a:buNone/>
            </a:pPr>
            <a:r>
              <a:rPr b="1" i="0" lang="en-US" sz="987" u="none" cap="none" strike="noStrike">
                <a:solidFill>
                  <a:srgbClr val="58A6FF"/>
                </a:solidFill>
                <a:latin typeface="Open Sans"/>
                <a:ea typeface="Open Sans"/>
                <a:cs typeface="Open Sans"/>
                <a:sym typeface="Open Sans"/>
              </a:rPr>
              <a:t>3. Verify Output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g3d355cda955_0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d355cda955_0_113"/>
          <p:cNvSpPr/>
          <p:nvPr/>
        </p:nvSpPr>
        <p:spPr>
          <a:xfrm>
            <a:off x="2449413" y="1735038"/>
            <a:ext cx="42453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223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5182"/>
              <a:buFont typeface="Roboto"/>
              <a:buNone/>
            </a:pPr>
            <a:r>
              <a:rPr b="1" i="0" lang="en-US" sz="5182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5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355cda955_0_113"/>
          <p:cNvSpPr/>
          <p:nvPr/>
        </p:nvSpPr>
        <p:spPr>
          <a:xfrm>
            <a:off x="2449413" y="3058418"/>
            <a:ext cx="42453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4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924"/>
              <a:buFont typeface="Open Sans"/>
              <a:buNone/>
            </a:pPr>
            <a:r>
              <a:rPr b="0" i="0" lang="en-US" sz="1924" u="none" cap="none" strike="noStrike">
                <a:solidFill>
                  <a:srgbClr val="C9D1D9"/>
                </a:solidFill>
                <a:latin typeface="Open Sans"/>
                <a:ea typeface="Open Sans"/>
                <a:cs typeface="Open Sans"/>
                <a:sym typeface="Open Sans"/>
              </a:rPr>
              <a:t>Any Questions?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2026-03-25T09:47:03Z</dcterms:created>
  <dc:creator>PptxGenJS</dc:creator>
</cp:coreProperties>
</file>