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Source Code Pro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4BeW0DbYN8hyAVFFI9V9+20Ao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7.xml"/><Relationship Id="rId22" Type="http://schemas.openxmlformats.org/officeDocument/2006/relationships/font" Target="fonts/OpenSans-italic.fntdata"/><Relationship Id="rId10" Type="http://schemas.openxmlformats.org/officeDocument/2006/relationships/slide" Target="slides/slide6.xml"/><Relationship Id="rId21" Type="http://schemas.openxmlformats.org/officeDocument/2006/relationships/font" Target="fonts/OpenSans-bold.fntdata"/><Relationship Id="rId13" Type="http://schemas.openxmlformats.org/officeDocument/2006/relationships/font" Target="fonts/Roboto-bold.fntdata"/><Relationship Id="rId24" Type="http://customschemas.google.com/relationships/presentationmetadata" Target="metadata"/><Relationship Id="rId12" Type="http://schemas.openxmlformats.org/officeDocument/2006/relationships/font" Target="fonts/Roboto-regular.fnt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SourceCodePro-bold.fntdata"/><Relationship Id="rId16" Type="http://schemas.openxmlformats.org/officeDocument/2006/relationships/font" Target="fonts/SourceCodePro-regular.fntdata"/><Relationship Id="rId5" Type="http://schemas.openxmlformats.org/officeDocument/2006/relationships/slide" Target="slides/slide1.xml"/><Relationship Id="rId19" Type="http://schemas.openxmlformats.org/officeDocument/2006/relationships/font" Target="fonts/SourceCodePro-boldItalic.fntdata"/><Relationship Id="rId6" Type="http://schemas.openxmlformats.org/officeDocument/2006/relationships/slide" Target="slides/slide2.xml"/><Relationship Id="rId18" Type="http://schemas.openxmlformats.org/officeDocument/2006/relationships/font" Target="fonts/SourceCodePr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989409" y="996553"/>
            <a:ext cx="7165181" cy="315039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89409" y="996553"/>
            <a:ext cx="7165181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89409" y="4118372"/>
            <a:ext cx="7165181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418034" y="1453753"/>
            <a:ext cx="63078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627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4145"/>
              <a:buFont typeface="Roboto"/>
              <a:buNone/>
            </a:pPr>
            <a:r>
              <a:rPr b="1" i="0" lang="en-US" sz="4145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LAB 2: CPU SCHEDULING</a:t>
            </a:r>
            <a:br>
              <a:rPr b="1" i="0" lang="en-US" sz="4145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4145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ALGORITHMS (SJF)</a:t>
            </a:r>
            <a:endParaRPr b="0" i="0" sz="4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075384" y="3339703"/>
            <a:ext cx="991195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808"/>
              <a:buFont typeface="Open Sans"/>
              <a:buNone/>
            </a:pPr>
            <a:r>
              <a:rPr b="1" i="0" lang="en-US" sz="1808" u="none" cap="none" strike="noStrike">
                <a:solidFill>
                  <a:srgbClr val="38D353"/>
                </a:solidFill>
                <a:latin typeface="Open Sans"/>
                <a:ea typeface="Open Sans"/>
                <a:cs typeface="Open Sans"/>
                <a:sym typeface="Open Sans"/>
              </a:rPr>
              <a:t>OCC: 1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638080" y="3339703"/>
            <a:ext cx="1430536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808"/>
              <a:buFont typeface="Open Sans"/>
              <a:buNone/>
            </a:pPr>
            <a:r>
              <a:rPr b="1" i="0" lang="en-US" sz="1808" u="none" cap="none" strike="noStrike">
                <a:solidFill>
                  <a:srgbClr val="38D353"/>
                </a:solidFill>
                <a:latin typeface="Open Sans"/>
                <a:ea typeface="Open Sans"/>
                <a:cs typeface="Open Sans"/>
                <a:sym typeface="Open Sans"/>
              </a:rPr>
              <a:t>GROUP: 8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Shortest Job First (SJF)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71500" y="1330523"/>
            <a:ext cx="3286125" cy="467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Open Sans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The CPU is assigned to the process with the smallest burst time next.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71500" y="1977033"/>
            <a:ext cx="3286125" cy="701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Open Sans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Non-preemptive implementation: We sort the list of processes by burst time before assigning wait times.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71500" y="2964656"/>
            <a:ext cx="3286125" cy="928688"/>
          </a:xfrm>
          <a:prstGeom prst="rect">
            <a:avLst/>
          </a:prstGeom>
          <a:solidFill>
            <a:srgbClr val="38D35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71500" y="2964656"/>
            <a:ext cx="35719" cy="928688"/>
          </a:xfrm>
          <a:prstGeom prst="rect">
            <a:avLst/>
          </a:prstGeom>
          <a:solidFill>
            <a:srgbClr val="38D3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71500" y="2964656"/>
            <a:ext cx="3286125" cy="92868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50" lIns="170050" spcFirstLastPara="1" rIns="170050" wrap="square" tIns="17005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090"/>
              <a:buFont typeface="Open Sans"/>
              <a:buNone/>
            </a:pPr>
            <a:r>
              <a:rPr b="1" i="0" lang="en-US" sz="1090" u="none" cap="none" strike="noStrike">
                <a:solidFill>
                  <a:srgbClr val="38D353"/>
                </a:solidFill>
                <a:latin typeface="Open Sans"/>
                <a:ea typeface="Open Sans"/>
                <a:cs typeface="Open Sans"/>
                <a:sym typeface="Open Sans"/>
              </a:rPr>
              <a:t>Benefit:</a:t>
            </a: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 Provides the minimum average waiting time compared to other algorithms.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286250" y="1187648"/>
            <a:ext cx="4286250" cy="3214688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38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0523"/>
            <a:ext cx="10715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77033"/>
            <a:ext cx="10715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2"/>
          <p:cNvPicPr preferRelativeResize="0"/>
          <p:nvPr/>
        </p:nvPicPr>
        <p:blipFill rotWithShape="1">
          <a:blip r:embed="rId6">
            <a:alphaModFix/>
          </a:blip>
          <a:srcRect b="18994" l="5382" r="4161" t="5694"/>
          <a:stretch/>
        </p:blipFill>
        <p:spPr>
          <a:xfrm>
            <a:off x="4314825" y="1415850"/>
            <a:ext cx="4229101" cy="275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7386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/>
          <p:nvPr/>
        </p:nvSpPr>
        <p:spPr>
          <a:xfrm>
            <a:off x="428625" y="428625"/>
            <a:ext cx="8286750" cy="4875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28625" y="901898"/>
            <a:ext cx="8286750" cy="14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28625" y="428625"/>
            <a:ext cx="828675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Flowchart &amp; Pseudocode (SJF)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28625" y="1187648"/>
            <a:ext cx="4036219" cy="3650456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71500" y="1330523"/>
            <a:ext cx="3750469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38D353"/>
                </a:solidFill>
                <a:latin typeface="Roboto"/>
                <a:ea typeface="Roboto"/>
                <a:cs typeface="Roboto"/>
                <a:sym typeface="Roboto"/>
              </a:rPr>
              <a:t>PSEUDOCODE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71500" y="1612699"/>
            <a:ext cx="3750600" cy="3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1. Input number of processes n and their BurstTime[i].</a:t>
            </a:r>
            <a:endParaRPr b="0" i="0" sz="94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2. Sort processes in ascending order based on BurstTime.</a:t>
            </a:r>
            <a:endParaRPr b="0" i="0" sz="94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3. Set WaitingTime[0] = 0.</a:t>
            </a:r>
            <a:endParaRPr b="0" i="0" sz="94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4. For i = 1 to n-1:</a:t>
            </a:r>
            <a:endParaRPr b="0" i="0" sz="94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WaitingTime[i] = WaitingTime[i-1] + BurstTime[i-1]</a:t>
            </a:r>
            <a:endParaRPr b="0" i="0" sz="94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5. For i = 0 to n-1:</a:t>
            </a:r>
            <a:endParaRPr b="0" i="0" sz="94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TurnAroundTime[i] = WaitingTime[i] + BurstTime[i]</a:t>
            </a:r>
            <a:endParaRPr b="0" i="0" sz="94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6. Display Process, Burst Time, Waiting Time, Turnaround Time.</a:t>
            </a:r>
            <a:endParaRPr b="0" i="0" sz="94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089922" y="1187648"/>
            <a:ext cx="3214688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1292" y="1273429"/>
            <a:ext cx="851948" cy="325743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5940028" y="4702373"/>
            <a:ext cx="151447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27"/>
              <a:buFont typeface="Open Sans"/>
              <a:buNone/>
            </a:pPr>
            <a:r>
              <a:rPr b="0" i="1" lang="en-US" sz="727" u="none" cap="none" strike="noStrike">
                <a:solidFill>
                  <a:srgbClr val="8B949E"/>
                </a:solidFill>
                <a:latin typeface="Open Sans"/>
                <a:ea typeface="Open Sans"/>
                <a:cs typeface="Open Sans"/>
                <a:sym typeface="Open Sans"/>
              </a:rPr>
              <a:t>Figure: SJF Scheduling Logic Flow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Code Implementation (SJF)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71500" y="1116199"/>
            <a:ext cx="8001000" cy="35865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1178356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860822" y="1159073"/>
            <a:ext cx="2764631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885"/>
              <a:buFont typeface="Source Code Pro"/>
              <a:buNone/>
            </a:pPr>
            <a:r>
              <a:rPr b="1" i="0" lang="en-US" sz="885" u="none" cap="none" strike="noStrike">
                <a:solidFill>
                  <a:srgbClr val="38D35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JAVA SJF IMPLEMENTATION (CORE LOGIC)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14375" y="1383375"/>
            <a:ext cx="79152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34"/>
              <a:buFont typeface="Arial"/>
              <a:buNone/>
            </a:pPr>
            <a:r>
              <a:rPr i="0" lang="en-US" sz="934" u="none" cap="none" strike="noStrike">
                <a:solidFill>
                  <a:schemeClr val="accent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Sort processes based on burst time (SJF)</a:t>
            </a:r>
            <a:b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rgbClr val="FF7B7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(</a:t>
            </a:r>
            <a:r>
              <a:rPr i="0" lang="en-US" sz="934" u="none" cap="none" strike="noStrike">
                <a:solidFill>
                  <a:srgbClr val="FF7B7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</a:t>
            </a: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 = 0; i &lt; n - 1; i++) {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i="0" lang="en-US" sz="934" u="none" cap="none" strike="noStrike">
                <a:solidFill>
                  <a:srgbClr val="FF7B7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(</a:t>
            </a:r>
            <a:r>
              <a:rPr i="0" lang="en-US" sz="934" u="none" cap="none" strike="noStrike">
                <a:solidFill>
                  <a:srgbClr val="FF7B7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</a:t>
            </a: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j = i + 1; j &lt; n; j++) {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i="0" lang="en-US" sz="934" u="none" cap="none" strike="noStrike">
                <a:solidFill>
                  <a:srgbClr val="FF7B7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(burstTime[i] &gt; burstTime[j]) {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    </a:t>
            </a:r>
            <a:r>
              <a:rPr i="0" lang="en-US" sz="934" u="none" cap="none" strike="noStrike">
                <a:solidFill>
                  <a:schemeClr val="accent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swap burst time and process id</a:t>
            </a:r>
            <a:endParaRPr i="0" sz="934" u="none" cap="none" strike="noStrike">
              <a:solidFill>
                <a:schemeClr val="accent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834"/>
              <a:buFont typeface="Arial"/>
              <a:buNone/>
            </a:pP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    </a:t>
            </a:r>
            <a:r>
              <a:rPr i="0" lang="en-US" sz="934" u="none" cap="none" strike="noStrike">
                <a:solidFill>
                  <a:srgbClr val="FF7B7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</a:t>
            </a: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temp = burstTime[i];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    burstTime[i] = burstTime[j];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    burstTime[j] = temp;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    temp = process[i];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    process[i] = process[j];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    process[j] = temp;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}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}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accent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Calculate waiting time and turnaround time</a:t>
            </a:r>
            <a:b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waitingTime[0] = 0;</a:t>
            </a:r>
            <a:b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rgbClr val="FF7B7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(</a:t>
            </a:r>
            <a:r>
              <a:rPr i="0" lang="en-US" sz="934" u="none" cap="none" strike="noStrike">
                <a:solidFill>
                  <a:srgbClr val="FF7B7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</a:t>
            </a: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 = 1; i &lt; n; i++) {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waitingTime[i] = waitingTime[i - 1] + burstTime[i - 1];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rgbClr val="FF7B7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(</a:t>
            </a:r>
            <a:r>
              <a:rPr i="0" lang="en-US" sz="934" u="none" cap="none" strike="noStrike">
                <a:solidFill>
                  <a:srgbClr val="FF7B7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</a:t>
            </a:r>
            <a:r>
              <a:rPr i="0" lang="en-US" sz="934" u="none" cap="none" strike="noStrike">
                <a:solidFill>
                  <a:srgbClr val="D1D5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 = 0; i &lt; n; i++) {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turnAroundTime[i] = waitingTime[i] + burstTime[i];</a:t>
            </a:r>
            <a:b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-US" sz="934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0" sz="934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Program Sample Output (SJF)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71500" y="1116211"/>
            <a:ext cx="8001000" cy="712589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85800" y="1230511"/>
            <a:ext cx="7772400" cy="183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090"/>
              <a:buFont typeface="Roboto"/>
              <a:buNone/>
            </a:pPr>
            <a:r>
              <a:rPr b="1" i="0" lang="en-US" sz="1090" u="none" cap="none" strike="noStrike">
                <a:solidFill>
                  <a:srgbClr val="38D353"/>
                </a:solidFill>
                <a:latin typeface="Roboto"/>
                <a:ea typeface="Roboto"/>
                <a:cs typeface="Roboto"/>
                <a:sym typeface="Roboto"/>
              </a:rPr>
              <a:t>INPUT DATA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85800" y="1485900"/>
            <a:ext cx="51792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93"/>
              <a:buFont typeface="Source Code Pro"/>
              <a:buNone/>
            </a:pPr>
            <a:r>
              <a:rPr b="1" i="0" lang="en-US" sz="1193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P1: 4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346597" y="1485900"/>
            <a:ext cx="51792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93"/>
              <a:buFont typeface="Source Code Pro"/>
              <a:buNone/>
            </a:pPr>
            <a:r>
              <a:rPr b="1" i="0" lang="en-US" sz="1193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P2: 6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007394" y="1485900"/>
            <a:ext cx="51792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93"/>
              <a:buFont typeface="Source Code Pro"/>
              <a:buNone/>
            </a:pPr>
            <a:r>
              <a:rPr b="1" i="0" lang="en-US" sz="1193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P3: 2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2668191" y="1485900"/>
            <a:ext cx="51792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93"/>
              <a:buFont typeface="Source Code Pro"/>
              <a:buNone/>
            </a:pPr>
            <a:r>
              <a:rPr b="1" i="0" lang="en-US" sz="1193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P4: 5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71500" y="1921669"/>
            <a:ext cx="2360926" cy="362545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71500" y="2262783"/>
            <a:ext cx="2360926" cy="21431"/>
          </a:xfrm>
          <a:prstGeom prst="rect">
            <a:avLst/>
          </a:prstGeom>
          <a:solidFill>
            <a:srgbClr val="38D3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71500" y="1921669"/>
            <a:ext cx="2360926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87"/>
              <a:buFont typeface="Source Code Pro"/>
              <a:buNone/>
            </a:pPr>
            <a:r>
              <a:rPr b="1" i="0" lang="en-US" sz="987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Process (Sorted)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2932426" y="1921669"/>
            <a:ext cx="1573941" cy="362545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2932426" y="2262783"/>
            <a:ext cx="1573941" cy="21431"/>
          </a:xfrm>
          <a:prstGeom prst="rect">
            <a:avLst/>
          </a:prstGeom>
          <a:solidFill>
            <a:srgbClr val="38D3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2932426" y="1921669"/>
            <a:ext cx="1573941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87"/>
              <a:buFont typeface="Source Code Pro"/>
              <a:buNone/>
            </a:pPr>
            <a:r>
              <a:rPr b="1" i="0" lang="en-US" sz="987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Burst Time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06367" y="1921669"/>
            <a:ext cx="1836279" cy="362545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506367" y="2262783"/>
            <a:ext cx="1836279" cy="21431"/>
          </a:xfrm>
          <a:prstGeom prst="rect">
            <a:avLst/>
          </a:prstGeom>
          <a:solidFill>
            <a:srgbClr val="38D3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06367" y="1921669"/>
            <a:ext cx="1836279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87"/>
              <a:buFont typeface="Source Code Pro"/>
              <a:buNone/>
            </a:pPr>
            <a:r>
              <a:rPr b="1" i="0" lang="en-US" sz="987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Waiting Time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342645" y="1921669"/>
            <a:ext cx="2229855" cy="362545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342645" y="2262783"/>
            <a:ext cx="2229855" cy="21431"/>
          </a:xfrm>
          <a:prstGeom prst="rect">
            <a:avLst/>
          </a:prstGeom>
          <a:solidFill>
            <a:srgbClr val="38D3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342645" y="1921669"/>
            <a:ext cx="2229855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87"/>
              <a:buFont typeface="Source Code Pro"/>
              <a:buNone/>
            </a:pPr>
            <a:r>
              <a:rPr b="1" i="0" lang="en-US" sz="987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Turnaround Time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71500" y="2273498"/>
            <a:ext cx="2360926" cy="355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2932426" y="2273498"/>
            <a:ext cx="1573941" cy="355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06367" y="2273498"/>
            <a:ext cx="1836279" cy="355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342645" y="2273498"/>
            <a:ext cx="2229855" cy="355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71500" y="2628900"/>
            <a:ext cx="2360926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2932426" y="2628900"/>
            <a:ext cx="157394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06367" y="2628900"/>
            <a:ext cx="1836279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342645" y="2628900"/>
            <a:ext cx="2229855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71500" y="2987873"/>
            <a:ext cx="2360926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932426" y="2987873"/>
            <a:ext cx="157394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506367" y="2987873"/>
            <a:ext cx="1836279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342645" y="2987873"/>
            <a:ext cx="2229855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71500" y="3346847"/>
            <a:ext cx="2360926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932426" y="3346847"/>
            <a:ext cx="157394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506367" y="3346847"/>
            <a:ext cx="1836279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342645" y="3346847"/>
            <a:ext cx="2229855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Source Code Pro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71500" y="3816548"/>
            <a:ext cx="8001000" cy="405300"/>
          </a:xfrm>
          <a:prstGeom prst="rect">
            <a:avLst/>
          </a:prstGeom>
          <a:solidFill>
            <a:srgbClr val="38D35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571500" y="3816548"/>
            <a:ext cx="35719" cy="405408"/>
          </a:xfrm>
          <a:prstGeom prst="rect">
            <a:avLst/>
          </a:prstGeom>
          <a:solidFill>
            <a:srgbClr val="38D3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57225" y="3902273"/>
            <a:ext cx="2153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193"/>
              <a:buFont typeface="Open Sans"/>
              <a:buNone/>
            </a:pPr>
            <a:r>
              <a:rPr b="1" i="0" lang="en-US" sz="1193" u="none" cap="none" strike="noStrike">
                <a:solidFill>
                  <a:srgbClr val="38D353"/>
                </a:solidFill>
                <a:latin typeface="Open Sans"/>
                <a:ea typeface="Open Sans"/>
                <a:cs typeface="Open Sans"/>
                <a:sym typeface="Open Sans"/>
              </a:rPr>
              <a:t>Average Waiting Time: 4.75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2953941" y="3902273"/>
            <a:ext cx="2514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193"/>
              <a:buFont typeface="Open Sans"/>
              <a:buNone/>
            </a:pPr>
            <a:r>
              <a:rPr b="1" i="0" lang="en-US" sz="1193" u="none" cap="none" strike="noStrike">
                <a:solidFill>
                  <a:srgbClr val="38D353"/>
                </a:solidFill>
                <a:latin typeface="Open Sans"/>
                <a:ea typeface="Open Sans"/>
                <a:cs typeface="Open Sans"/>
                <a:sym typeface="Open Sans"/>
              </a:rPr>
              <a:t>Average Turnaround Time: 9.00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Live Code Demonstration (SJF)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71500" y="1044773"/>
            <a:ext cx="8001000" cy="246956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71500" y="1044773"/>
            <a:ext cx="8001000" cy="267891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214438" y="1116211"/>
            <a:ext cx="1032272" cy="125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27"/>
              <a:buFont typeface="Source Code Pro"/>
              <a:buNone/>
            </a:pPr>
            <a:r>
              <a:rPr b="0" i="0" lang="en-US" sz="727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bash — Lab_2.java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28663" y="1469827"/>
            <a:ext cx="7686675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090"/>
              <a:buFont typeface="Source Code Pro"/>
              <a:buNone/>
            </a:pPr>
            <a:r>
              <a:rPr b="1" i="0" lang="en-US" sz="1090" u="none" cap="none" strike="noStrike">
                <a:solidFill>
                  <a:srgbClr val="38D35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ubuntu@sandbox:~$</a:t>
            </a:r>
            <a:r>
              <a:rPr b="0" i="0" lang="en-US" sz="115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javac Lab_2.java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28663" y="1721281"/>
            <a:ext cx="7686675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090"/>
              <a:buFont typeface="Source Code Pro"/>
              <a:buNone/>
            </a:pPr>
            <a:r>
              <a:rPr b="1" i="0" lang="en-US" sz="1090" u="none" cap="none" strike="noStrike">
                <a:solidFill>
                  <a:srgbClr val="38D35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ubuntu@sandbox:~$</a:t>
            </a:r>
            <a:r>
              <a:rPr b="0" i="0" lang="en-US" sz="115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java Lab_2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28663" y="2265629"/>
            <a:ext cx="7686675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9"/>
              <a:buFont typeface="Source Code Pro"/>
              <a:buNone/>
            </a:pPr>
            <a:r>
              <a:rPr b="0" i="0" lang="en-US" sz="1159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Enter the number of processes: </a:t>
            </a: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28663" y="2517084"/>
            <a:ext cx="7686675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9"/>
              <a:buFont typeface="Source Code Pro"/>
              <a:buNone/>
            </a:pPr>
            <a:r>
              <a:rPr b="0" i="0" lang="en-US" sz="1159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Enter Burst Time for 5 processes: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28663" y="2768538"/>
            <a:ext cx="7686675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9"/>
              <a:buFont typeface="Source Code Pro"/>
              <a:buNone/>
            </a:pPr>
            <a:r>
              <a:rPr b="0" i="0" lang="en-US" sz="1159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P1: </a:t>
            </a: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</a:t>
            </a:r>
            <a:r>
              <a:rPr b="0" i="0" lang="en-US" sz="1159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P2: </a:t>
            </a: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r>
              <a:rPr b="0" i="0" lang="en-US" sz="1159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P3: </a:t>
            </a: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</a:t>
            </a:r>
            <a:r>
              <a:rPr b="0" i="0" lang="en-US" sz="1159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P4: </a:t>
            </a: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8</a:t>
            </a:r>
            <a:r>
              <a:rPr b="0" i="0" lang="en-US" sz="1159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P5: </a:t>
            </a: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28663" y="3091430"/>
            <a:ext cx="7686675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59"/>
              <a:buFont typeface="Source Code Pro"/>
              <a:buNone/>
            </a:pP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 Sorting &amp; Running SJF Algorithm... ]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9244" y="3771509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1368307" y="4142984"/>
            <a:ext cx="102334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87"/>
              <a:buFont typeface="Open Sans"/>
              <a:buNone/>
            </a:pPr>
            <a:r>
              <a:rPr b="1" i="0" lang="en-US" sz="987" u="none" cap="none" strike="noStrike">
                <a:solidFill>
                  <a:srgbClr val="58A6FF"/>
                </a:solidFill>
                <a:latin typeface="Open Sans"/>
                <a:ea typeface="Open Sans"/>
                <a:cs typeface="Open Sans"/>
                <a:sym typeface="Open Sans"/>
              </a:rPr>
              <a:t>1. Switch to IDE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4810" y="3771509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3985292" y="4142984"/>
            <a:ext cx="114478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87"/>
              <a:buFont typeface="Open Sans"/>
              <a:buNone/>
            </a:pPr>
            <a:r>
              <a:rPr b="1" i="0" lang="en-US" sz="987" u="none" cap="none" strike="noStrike">
                <a:solidFill>
                  <a:srgbClr val="58A6FF"/>
                </a:solidFill>
                <a:latin typeface="Open Sans"/>
                <a:ea typeface="Open Sans"/>
                <a:cs typeface="Open Sans"/>
                <a:sym typeface="Open Sans"/>
              </a:rPr>
              <a:t>2. Compile &amp; Run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6803" y="3771509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6723720" y="4142984"/>
            <a:ext cx="1051917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87"/>
              <a:buFont typeface="Open Sans"/>
              <a:buNone/>
            </a:pPr>
            <a:r>
              <a:rPr b="1" i="0" lang="en-US" sz="987" u="none" cap="none" strike="noStrike">
                <a:solidFill>
                  <a:srgbClr val="58A6FF"/>
                </a:solidFill>
                <a:latin typeface="Open Sans"/>
                <a:ea typeface="Open Sans"/>
                <a:cs typeface="Open Sans"/>
                <a:sym typeface="Open Sans"/>
              </a:rPr>
              <a:t>3. Verify Output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2449413" y="1735038"/>
            <a:ext cx="4245173" cy="837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223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5182"/>
              <a:buFont typeface="Roboto"/>
              <a:buNone/>
            </a:pPr>
            <a:r>
              <a:rPr b="1" i="0" lang="en-US" sz="5182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51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2449413" y="3058418"/>
            <a:ext cx="4245173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74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924"/>
              <a:buFont typeface="Open Sans"/>
              <a:buNone/>
            </a:pPr>
            <a:r>
              <a:rPr b="0" i="0" lang="en-US" sz="1924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Any Questions?</a:t>
            </a:r>
            <a:endParaRPr b="0" i="0" sz="1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2026-04-05T15:22:57Z</dcterms:created>
  <dc:creator>PptxGenJS</dc:creator>
</cp:coreProperties>
</file>