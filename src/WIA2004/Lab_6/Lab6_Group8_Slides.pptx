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4" r:id="rId8"/>
    <p:sldId id="261" r:id="rId9"/>
    <p:sldId id="262" r:id="rId10"/>
    <p:sldId id="263" r:id="rId11"/>
    <p:sldId id="265" r:id="rId12"/>
  </p:sldIdLst>
  <p:sldSz cx="18288000" cy="10287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textbox 4"/>
          <p:cNvSpPr/>
          <p:nvPr/>
        </p:nvSpPr>
        <p:spPr>
          <a:xfrm>
            <a:off x="2474972" y="2975016"/>
            <a:ext cx="13606780" cy="1610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6200" b="1" kern="0" spc="-7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LAB 6:</a:t>
            </a:r>
            <a:r>
              <a:rPr sz="6200" b="1" kern="0" spc="44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200" b="1" kern="0" spc="-7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BANKER'S ALGORITHM</a:t>
            </a:r>
            <a:r>
              <a:rPr sz="6200" b="1" kern="0" spc="46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200" b="1" kern="0" spc="-7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</a:t>
            </a:r>
            <a:endParaRPr sz="6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17420" algn="l" rtl="0" eaLnBrk="0">
              <a:lnSpc>
                <a:spcPct val="74000"/>
              </a:lnSpc>
              <a:spcBef>
                <a:spcPts val="1130"/>
              </a:spcBef>
            </a:pPr>
            <a:r>
              <a:rPr sz="6200" b="1" kern="0" spc="-1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DEADLOCK AVOIDANCE</a:t>
            </a:r>
            <a:endParaRPr sz="6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661480" y="6495823"/>
            <a:ext cx="5413375" cy="481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9000"/>
              </a:lnSpc>
            </a:pPr>
            <a:r>
              <a:rPr sz="3800" b="1" kern="0" spc="-200" dirty="0">
                <a:solidFill>
                  <a:srgbClr val="00BF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</a:t>
            </a:r>
            <a:r>
              <a:rPr sz="3800" b="1" kern="0" spc="-190" dirty="0">
                <a:solidFill>
                  <a:srgbClr val="00BF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CC</a:t>
            </a:r>
            <a:r>
              <a:rPr sz="3800" b="1" kern="0" spc="480" dirty="0">
                <a:solidFill>
                  <a:srgbClr val="00BF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b="1" kern="0" spc="-190" dirty="0">
                <a:solidFill>
                  <a:srgbClr val="00BF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</a:t>
            </a:r>
            <a:r>
              <a:rPr sz="3800" b="1" kern="0" spc="420" dirty="0">
                <a:solidFill>
                  <a:srgbClr val="00BF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b="1" kern="0" spc="-190" dirty="0">
                <a:solidFill>
                  <a:srgbClr val="00BF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3800" b="1" kern="0" spc="70" dirty="0">
                <a:solidFill>
                  <a:srgbClr val="00BF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</a:t>
            </a:r>
            <a:r>
              <a:rPr sz="3800" b="1" kern="0" spc="-190" dirty="0">
                <a:solidFill>
                  <a:srgbClr val="00BF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GROUP</a:t>
            </a:r>
            <a:r>
              <a:rPr sz="3800" b="1" kern="0" spc="460" dirty="0">
                <a:solidFill>
                  <a:srgbClr val="00BF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b="1" kern="0" spc="-190" dirty="0">
                <a:solidFill>
                  <a:srgbClr val="00BF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</a:t>
            </a:r>
            <a:r>
              <a:rPr sz="3800" b="1" kern="0" spc="-180" dirty="0">
                <a:solidFill>
                  <a:srgbClr val="00BF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endParaRPr sz="3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085975" y="1895475"/>
            <a:ext cx="14116050" cy="5715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085975" y="7934326"/>
            <a:ext cx="14116050" cy="57148"/>
          </a:xfrm>
          <a:prstGeom prst="rect">
            <a:avLst/>
          </a:prstGeom>
        </p:spPr>
      </p:pic>
      <p:sp>
        <p:nvSpPr>
          <p:cNvPr id="12" name="rect 12"/>
          <p:cNvSpPr/>
          <p:nvPr/>
        </p:nvSpPr>
        <p:spPr>
          <a:xfrm>
            <a:off x="8372475" y="5610225"/>
            <a:ext cx="1552575" cy="114300"/>
          </a:xfrm>
          <a:prstGeom prst="rect">
            <a:avLst/>
          </a:prstGeom>
          <a:solidFill>
            <a:srgbClr val="00BD61">
              <a:alpha val="9882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 14"/>
          <p:cNvSpPr/>
          <p:nvPr/>
        </p:nvSpPr>
        <p:spPr>
          <a:xfrm>
            <a:off x="0" y="0"/>
            <a:ext cx="18288000" cy="1028699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998537" y="3774677"/>
            <a:ext cx="16265525" cy="2515235"/>
            <a:chOff x="-12700" y="-12700"/>
            <a:chExt cx="16265525" cy="2515235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6240125" cy="2295396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-12700" y="-12700"/>
              <a:ext cx="16265525" cy="25152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46710" algn="l" rtl="0" eaLnBrk="0">
                <a:lnSpc>
                  <a:spcPct val="81000"/>
                </a:lnSpc>
                <a:spcBef>
                  <a:spcPts val="0"/>
                </a:spcBef>
              </a:pPr>
              <a:r>
                <a:rPr sz="2400" b="1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Safety</a:t>
              </a:r>
              <a:r>
                <a:rPr sz="2400" b="1" kern="0" spc="2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b="1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Check</a:t>
              </a:r>
              <a:r>
                <a:rPr sz="2400" b="1" kern="0" spc="3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b="1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Logic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50520" indent="3810" algn="l" rtl="0" eaLnBrk="0">
                <a:lnSpc>
                  <a:spcPct val="120000"/>
                </a:lnSpc>
                <a:spcBef>
                  <a:spcPts val="5"/>
                </a:spcBef>
              </a:pPr>
              <a:r>
                <a:rPr sz="30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To decide</a:t>
              </a:r>
              <a:r>
                <a:rPr sz="3000" kern="0" spc="3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0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if a</a:t>
              </a:r>
              <a:r>
                <a:rPr sz="3000" kern="0" spc="3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0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</a:t>
              </a:r>
              <a:r>
                <a:rPr sz="30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equest can</a:t>
              </a:r>
              <a:r>
                <a:rPr sz="3000" kern="0" spc="3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0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be satisfied or</a:t>
              </a:r>
              <a:r>
                <a:rPr sz="3000" kern="0" spc="2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0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must</a:t>
              </a:r>
              <a:r>
                <a:rPr sz="3000" kern="0" spc="3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0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be</a:t>
              </a:r>
              <a:r>
                <a:rPr sz="3000" kern="0" spc="2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0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delayed,</a:t>
              </a:r>
              <a:r>
                <a:rPr sz="3000" kern="0" spc="1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0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the</a:t>
              </a:r>
              <a:r>
                <a:rPr sz="3000" kern="0" spc="2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0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system</a:t>
              </a:r>
              <a:r>
                <a:rPr sz="3000" kern="0" spc="2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0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considers</a:t>
              </a:r>
              <a:r>
                <a:rPr sz="30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         </a:t>
              </a:r>
              <a:r>
                <a:rPr sz="3000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resources currently available, curren</a:t>
              </a:r>
              <a:r>
                <a:rPr sz="30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 allocations,</a:t>
              </a:r>
              <a:r>
                <a:rPr sz="3000" kern="0" spc="2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0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and</a:t>
              </a:r>
              <a:r>
                <a:rPr sz="3000" kern="0" spc="1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0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future</a:t>
              </a:r>
              <a:r>
                <a:rPr sz="3000" kern="0" spc="3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0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requests.</a:t>
              </a:r>
              <a:endParaRPr sz="3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1041937" y="1166601"/>
            <a:ext cx="15547975" cy="1457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260" algn="l" rtl="0" eaLnBrk="0">
              <a:lnSpc>
                <a:spcPct val="81000"/>
              </a:lnSpc>
            </a:pPr>
            <a:r>
              <a:rPr sz="2800" b="1" kern="0" spc="-4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INTRODUCTION</a:t>
            </a:r>
            <a:r>
              <a:rPr sz="2800" b="1" kern="0" spc="-18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b="1" kern="0" spc="-4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 BANKER</a:t>
            </a:r>
            <a:r>
              <a:rPr sz="2800" kern="0" spc="-40" dirty="0">
                <a:solidFill>
                  <a:srgbClr val="38B6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’</a:t>
            </a:r>
            <a:r>
              <a:rPr sz="2800" b="1" kern="0" spc="-4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 ALGORITHM</a:t>
            </a:r>
            <a:r>
              <a:rPr sz="2800" b="1" kern="0" spc="21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b="1" kern="0" spc="-4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</a:t>
            </a:r>
            <a:r>
              <a:rPr sz="2800" b="1" kern="0" spc="19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b="1" kern="0" spc="-4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DEADLOCK AVOID</a:t>
            </a:r>
            <a:r>
              <a:rPr sz="2800" b="1" kern="0" spc="-5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ANCE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9530" algn="l" rtl="0" eaLnBrk="0">
              <a:lnSpc>
                <a:spcPts val="4115"/>
              </a:lnSpc>
              <a:spcBef>
                <a:spcPts val="320"/>
              </a:spcBef>
            </a:pPr>
            <a:r>
              <a:rPr sz="3000" kern="0" spc="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it</a:t>
            </a:r>
            <a:r>
              <a:rPr sz="3000" kern="0" spc="4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is</a:t>
            </a:r>
            <a:r>
              <a:rPr sz="3000" kern="0" spc="3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3000" kern="0" spc="4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manag</a:t>
            </a:r>
            <a:r>
              <a:rPr sz="3000" kern="0" spc="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ement technique where the</a:t>
            </a:r>
            <a:r>
              <a:rPr sz="3000" kern="0" spc="3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</a:t>
            </a:r>
            <a:r>
              <a:rPr sz="3000" kern="0" spc="4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uses</a:t>
            </a:r>
            <a:r>
              <a:rPr sz="3000" kern="0" spc="3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advance</a:t>
            </a:r>
            <a:r>
              <a:rPr sz="3000" kern="0" spc="4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information to</a:t>
            </a:r>
            <a:r>
              <a:rPr sz="3000" kern="0" spc="3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decide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115"/>
              </a:lnSpc>
            </a:pPr>
            <a:r>
              <a:rPr sz="3000" kern="0" spc="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whether</a:t>
            </a:r>
            <a:r>
              <a:rPr sz="3000" kern="0" spc="3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</a:t>
            </a:r>
            <a:r>
              <a:rPr sz="3000" kern="0" spc="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urce</a:t>
            </a:r>
            <a:r>
              <a:rPr sz="3000" kern="0" spc="4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requests</a:t>
            </a:r>
            <a:r>
              <a:rPr sz="3000" kern="0" spc="3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should</a:t>
            </a:r>
            <a:r>
              <a:rPr sz="3000" kern="0" spc="4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</a:t>
            </a:r>
            <a:r>
              <a:rPr sz="3000" kern="0" spc="3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satisfied</a:t>
            </a:r>
            <a:r>
              <a:rPr sz="3000" kern="0" spc="3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 delayed.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1053465" y="7245985"/>
            <a:ext cx="15051405" cy="1762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ct val="80000"/>
              </a:lnSpc>
            </a:pPr>
            <a:r>
              <a:rPr sz="2400" b="1" kern="0" spc="50" dirty="0">
                <a:solidFill>
                  <a:srgbClr val="FFDE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Primary</a:t>
            </a:r>
            <a:r>
              <a:rPr sz="2400" b="1" kern="0" spc="410" dirty="0">
                <a:solidFill>
                  <a:srgbClr val="FFDE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b="1" kern="0" spc="50" dirty="0">
                <a:solidFill>
                  <a:srgbClr val="FFDE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655" indent="-20955" algn="l" rtl="0" eaLnBrk="0">
              <a:lnSpc>
                <a:spcPct val="119000"/>
              </a:lnSpc>
              <a:spcBef>
                <a:spcPts val="505"/>
              </a:spcBef>
            </a:pP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Simulate</a:t>
            </a:r>
            <a:r>
              <a:rPr sz="3000" kern="0" spc="2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</a:t>
            </a:r>
            <a:r>
              <a:rPr sz="3000" kern="0" spc="2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way</a:t>
            </a:r>
            <a:r>
              <a:rPr sz="3000" kern="0" spc="2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</a:t>
            </a:r>
            <a:r>
              <a:rPr sz="3000" kern="0" spc="2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operating</a:t>
            </a:r>
            <a:r>
              <a:rPr sz="3000" kern="0" spc="2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</a:t>
            </a:r>
            <a:r>
              <a:rPr sz="3000" kern="0" spc="2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avoids</a:t>
            </a:r>
            <a:r>
              <a:rPr sz="3000" kern="0" spc="2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deadlocks</a:t>
            </a:r>
            <a:r>
              <a:rPr sz="3000" kern="0" spc="2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by</a:t>
            </a:r>
            <a:r>
              <a:rPr sz="3000" kern="0" spc="1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deciding</a:t>
            </a:r>
            <a:r>
              <a:rPr sz="3000" kern="0" spc="2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whether</a:t>
            </a:r>
            <a:r>
              <a:rPr sz="3000" kern="0" spc="2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</a:t>
            </a:r>
            <a:r>
              <a:rPr sz="3000" kern="0" spc="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satisfy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resource</a:t>
            </a:r>
            <a:r>
              <a:rPr sz="3000" kern="0" spc="1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requests</a:t>
            </a:r>
            <a:r>
              <a:rPr sz="3000" kern="0" spc="1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based</a:t>
            </a:r>
            <a:r>
              <a:rPr sz="3000" kern="0" spc="1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</a:t>
            </a:r>
            <a:r>
              <a:rPr sz="3000" kern="0" spc="1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</a:t>
            </a:r>
            <a:r>
              <a:rPr sz="3000" kern="0" spc="1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available</a:t>
            </a:r>
            <a:r>
              <a:rPr sz="3000" kern="0" spc="1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3000" kern="0" spc="2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allocated</a:t>
            </a:r>
            <a:r>
              <a:rPr sz="3000" kern="0" spc="1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3000" kern="0" spc="1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</a:t>
            </a:r>
            <a:r>
              <a:rPr sz="3000" kern="0" spc="1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future</a:t>
            </a:r>
            <a:r>
              <a:rPr sz="3000" kern="0" spc="2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resources</a:t>
            </a:r>
            <a:r>
              <a:rPr sz="3000" kern="0" spc="1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42950" y="561975"/>
            <a:ext cx="16230600" cy="57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 26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" name="group 4"/>
          <p:cNvGrpSpPr/>
          <p:nvPr/>
        </p:nvGrpSpPr>
        <p:grpSpPr>
          <a:xfrm rot="21600000">
            <a:off x="1047750" y="2457445"/>
            <a:ext cx="7791450" cy="3077429"/>
            <a:chOff x="0" y="0"/>
            <a:chExt cx="7791450" cy="3077429"/>
          </a:xfrm>
        </p:grpSpPr>
        <p:sp>
          <p:nvSpPr>
            <p:cNvPr id="28" name="rect 28"/>
            <p:cNvSpPr/>
            <p:nvPr/>
          </p:nvSpPr>
          <p:spPr>
            <a:xfrm>
              <a:off x="0" y="4"/>
              <a:ext cx="7381875" cy="3076575"/>
            </a:xfrm>
            <a:prstGeom prst="rect">
              <a:avLst/>
            </a:prstGeom>
            <a:solidFill>
              <a:srgbClr val="FFFFFF">
                <a:alpha val="99607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" name="rect 30"/>
            <p:cNvSpPr/>
            <p:nvPr/>
          </p:nvSpPr>
          <p:spPr>
            <a:xfrm>
              <a:off x="419100" y="0"/>
              <a:ext cx="7372350" cy="3077429"/>
            </a:xfrm>
            <a:prstGeom prst="rect">
              <a:avLst/>
            </a:prstGeom>
            <a:solidFill>
              <a:srgbClr val="FFDE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" name="textbox 32"/>
            <p:cNvSpPr/>
            <p:nvPr/>
          </p:nvSpPr>
          <p:spPr>
            <a:xfrm>
              <a:off x="825500" y="335915"/>
              <a:ext cx="6557010" cy="22371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8895" algn="l" rtl="0" eaLnBrk="0">
                <a:lnSpc>
                  <a:spcPct val="80000"/>
                </a:lnSpc>
              </a:pPr>
              <a:r>
                <a:rPr sz="2400" b="1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Resource</a:t>
              </a:r>
              <a:r>
                <a:rPr sz="2400" b="1" kern="0" spc="3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b="1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Instance</a:t>
              </a:r>
              <a:r>
                <a:rPr sz="2400" b="1" kern="0" spc="3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b="1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Management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7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050" algn="l" rtl="0" eaLnBrk="0">
                <a:lnSpc>
                  <a:spcPct val="78000"/>
                </a:lnSpc>
                <a:spcBef>
                  <a:spcPts val="725"/>
                </a:spcBef>
              </a:pPr>
              <a:r>
                <a:rPr sz="2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The</a:t>
              </a:r>
              <a:r>
                <a:rPr sz="2400" kern="0" spc="3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Banker's</a:t>
              </a:r>
              <a:r>
                <a:rPr sz="2400" kern="0" spc="2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algori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thm</a:t>
              </a:r>
              <a:r>
                <a:rPr sz="2400" kern="0" spc="3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is</a:t>
              </a:r>
              <a:r>
                <a:rPr sz="2400" kern="0" spc="2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r>
                <a:rPr sz="2400" kern="0" spc="2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deadlock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225" algn="l" rtl="0" eaLnBrk="0">
                <a:lnSpc>
                  <a:spcPct val="78000"/>
                </a:lnSpc>
                <a:spcBef>
                  <a:spcPts val="1285"/>
                </a:spcBef>
              </a:pPr>
              <a:r>
                <a:rPr sz="24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avoidance technique</a:t>
              </a:r>
              <a:r>
                <a:rPr sz="2400" kern="0" spc="2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applicable to</a:t>
              </a:r>
              <a:r>
                <a:rPr sz="2400" kern="0" spc="2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</a:t>
              </a:r>
              <a:r>
                <a:rPr sz="24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ystems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3275"/>
                </a:lnSpc>
                <a:spcBef>
                  <a:spcPts val="425"/>
                </a:spcBef>
              </a:pPr>
              <a:r>
                <a:rPr sz="24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with</a:t>
              </a:r>
              <a:r>
                <a:rPr sz="2400" kern="0" spc="3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multiple</a:t>
              </a:r>
              <a:r>
                <a:rPr sz="2400" kern="0" spc="3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instances</a:t>
              </a:r>
              <a:r>
                <a:rPr sz="2400" kern="0" spc="2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of each</a:t>
              </a:r>
              <a:r>
                <a:rPr sz="2400" kern="0" spc="3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resou</a:t>
              </a:r>
              <a:r>
                <a:rPr sz="2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rce type</a:t>
              </a:r>
              <a:r>
                <a:rPr lang="en-US" sz="2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.</a:t>
              </a: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370" algn="l" rtl="0" eaLnBrk="0">
                <a:lnSpc>
                  <a:spcPts val="390"/>
                </a:lnSpc>
                <a:spcBef>
                  <a:spcPts val="5"/>
                </a:spcBef>
              </a:pP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1114425" y="6181725"/>
            <a:ext cx="7724775" cy="3076575"/>
            <a:chOff x="0" y="0"/>
            <a:chExt cx="7724775" cy="3076575"/>
          </a:xfrm>
        </p:grpSpPr>
        <p:sp>
          <p:nvSpPr>
            <p:cNvPr id="34" name="rect 34"/>
            <p:cNvSpPr/>
            <p:nvPr/>
          </p:nvSpPr>
          <p:spPr>
            <a:xfrm>
              <a:off x="0" y="0"/>
              <a:ext cx="7381875" cy="3076575"/>
            </a:xfrm>
            <a:prstGeom prst="rect">
              <a:avLst/>
            </a:prstGeom>
            <a:solidFill>
              <a:srgbClr val="FF31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" name="rect 36"/>
            <p:cNvSpPr/>
            <p:nvPr/>
          </p:nvSpPr>
          <p:spPr>
            <a:xfrm>
              <a:off x="352425" y="0"/>
              <a:ext cx="7372350" cy="30765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" name="textbox 38"/>
            <p:cNvSpPr/>
            <p:nvPr/>
          </p:nvSpPr>
          <p:spPr>
            <a:xfrm>
              <a:off x="780895" y="497962"/>
              <a:ext cx="6247765" cy="21869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2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9000"/>
                </a:lnSpc>
              </a:pPr>
              <a:r>
                <a:rPr sz="2400" b="1" kern="0" spc="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Request</a:t>
              </a:r>
              <a:r>
                <a:rPr sz="2400" b="1" kern="0" spc="3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b="1" kern="0" spc="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Evaluation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4770" algn="l" rtl="0" eaLnBrk="0">
                <a:lnSpc>
                  <a:spcPct val="78000"/>
                </a:lnSpc>
                <a:spcBef>
                  <a:spcPts val="1485"/>
                </a:spcBef>
              </a:pPr>
              <a:r>
                <a:rPr sz="24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The operating system</a:t>
              </a:r>
              <a:r>
                <a:rPr sz="2400" kern="0" spc="2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use</a:t>
              </a:r>
              <a:r>
                <a:rPr sz="24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</a:t>
              </a:r>
              <a:r>
                <a:rPr sz="2400" kern="0" spc="1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advance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9850" indent="7620" algn="l" rtl="0" eaLnBrk="0">
                <a:lnSpc>
                  <a:spcPct val="125000"/>
                </a:lnSpc>
                <a:spcBef>
                  <a:spcPts val="225"/>
                </a:spcBef>
              </a:pPr>
              <a:r>
                <a:rPr sz="24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information to decide whether</a:t>
              </a:r>
              <a:r>
                <a:rPr sz="2400" kern="0" spc="1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eac</a:t>
              </a:r>
              <a:r>
                <a:rPr sz="24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</a:t>
              </a:r>
              <a:r>
                <a:rPr sz="2400" kern="0" spc="2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request</a:t>
              </a: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can</a:t>
              </a:r>
              <a:r>
                <a:rPr sz="2400" kern="0" spc="2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be</a:t>
              </a:r>
              <a:r>
                <a:rPr sz="2400" kern="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safely</a:t>
              </a:r>
              <a:r>
                <a:rPr sz="2400" kern="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satisfied</a:t>
              </a:r>
              <a:r>
                <a:rPr sz="2400" kern="0" spc="1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or</a:t>
              </a:r>
              <a:r>
                <a:rPr sz="2400" kern="0" spc="1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if</a:t>
              </a:r>
              <a:r>
                <a:rPr sz="2400" kern="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the</a:t>
              </a:r>
              <a:r>
                <a:rPr sz="2400" kern="0" spc="2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process</a:t>
              </a:r>
              <a:r>
                <a:rPr sz="2400" kern="0" spc="2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must </a:t>
              </a: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be</a:t>
              </a:r>
              <a:r>
                <a:rPr sz="2400" kern="0" spc="1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delayed</a:t>
              </a:r>
              <a:r>
                <a:rPr sz="2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.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2" name="path 42"/>
          <p:cNvSpPr/>
          <p:nvPr/>
        </p:nvSpPr>
        <p:spPr>
          <a:xfrm>
            <a:off x="9448800" y="6181725"/>
            <a:ext cx="7381875" cy="3076575"/>
          </a:xfrm>
          <a:custGeom>
            <a:avLst/>
            <a:gdLst/>
            <a:ahLst/>
            <a:cxnLst/>
            <a:rect l="0" t="0" r="0" b="0"/>
            <a:pathLst>
              <a:path w="11625" h="4845">
                <a:moveTo>
                  <a:pt x="0" y="4845"/>
                </a:moveTo>
                <a:lnTo>
                  <a:pt x="11625" y="4845"/>
                </a:lnTo>
                <a:lnTo>
                  <a:pt x="11625" y="0"/>
                </a:lnTo>
                <a:lnTo>
                  <a:pt x="0" y="0"/>
                </a:lnTo>
                <a:lnTo>
                  <a:pt x="0" y="484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" name="textbox 40"/>
          <p:cNvSpPr/>
          <p:nvPr/>
        </p:nvSpPr>
        <p:spPr>
          <a:xfrm>
            <a:off x="9801225" y="6181725"/>
            <a:ext cx="7372350" cy="3076575"/>
          </a:xfrm>
          <a:prstGeom prst="rect">
            <a:avLst/>
          </a:prstGeom>
          <a:solidFill>
            <a:srgbClr val="00BF6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72795" algn="l" rtl="0" eaLnBrk="0">
              <a:lnSpc>
                <a:spcPct val="73000"/>
              </a:lnSpc>
              <a:spcBef>
                <a:spcPts val="5"/>
              </a:spcBef>
            </a:pPr>
            <a:r>
              <a:rPr sz="2400" b="1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Deadlock Avoidance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6760" algn="l" rtl="0" eaLnBrk="0">
              <a:lnSpc>
                <a:spcPct val="77000"/>
              </a:lnSpc>
              <a:spcBef>
                <a:spcPts val="1560"/>
              </a:spcBef>
            </a:pP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This</a:t>
            </a:r>
            <a:r>
              <a:rPr sz="24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strategy</a:t>
            </a:r>
            <a:r>
              <a:rPr sz="2400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ensures that</a:t>
            </a:r>
            <a:r>
              <a:rPr sz="2400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processes</a:t>
            </a:r>
            <a:r>
              <a:rPr sz="2400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</a:t>
            </a:r>
            <a:r>
              <a:rPr sz="2400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ot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45820" algn="l" rtl="0" eaLnBrk="0">
              <a:lnSpc>
                <a:spcPts val="3590"/>
              </a:lnSpc>
            </a:pP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enter</a:t>
            </a:r>
            <a:r>
              <a:rPr sz="2400" kern="0" spc="2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2400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permanent wait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ing</a:t>
            </a:r>
            <a:r>
              <a:rPr sz="2400" kern="0" spc="2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state</a:t>
            </a:r>
            <a:r>
              <a:rPr sz="2400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by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9935" indent="635" algn="l" rtl="0" eaLnBrk="0">
              <a:lnSpc>
                <a:spcPct val="115000"/>
              </a:lnSpc>
              <a:spcBef>
                <a:spcPts val="5"/>
              </a:spcBef>
            </a:pP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ensuring</a:t>
            </a:r>
            <a:r>
              <a:rPr sz="2400" kern="0" spc="3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resources</a:t>
            </a:r>
            <a:r>
              <a:rPr sz="2400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are</a:t>
            </a:r>
            <a:r>
              <a:rPr sz="2400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allocated</a:t>
            </a:r>
            <a:r>
              <a:rPr sz="2400" kern="0" spc="3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</a:t>
            </a:r>
            <a:r>
              <a:rPr sz="2400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deadlock</a:t>
            </a:r>
            <a:r>
              <a:rPr lang="en-US" sz="2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free</a:t>
            </a:r>
            <a:r>
              <a:rPr sz="2400" kern="0" spc="3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nner.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path 46"/>
          <p:cNvSpPr/>
          <p:nvPr/>
        </p:nvSpPr>
        <p:spPr>
          <a:xfrm>
            <a:off x="9448800" y="2457450"/>
            <a:ext cx="7381875" cy="3067050"/>
          </a:xfrm>
          <a:custGeom>
            <a:avLst/>
            <a:gdLst/>
            <a:ahLst/>
            <a:cxnLst/>
            <a:rect l="0" t="0" r="0" b="0"/>
            <a:pathLst>
              <a:path w="11625" h="4830">
                <a:moveTo>
                  <a:pt x="0" y="4830"/>
                </a:moveTo>
                <a:lnTo>
                  <a:pt x="11625" y="4830"/>
                </a:lnTo>
                <a:lnTo>
                  <a:pt x="11625" y="0"/>
                </a:lnTo>
                <a:lnTo>
                  <a:pt x="0" y="0"/>
                </a:lnTo>
                <a:lnTo>
                  <a:pt x="0" y="483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" name="textbox 44"/>
          <p:cNvSpPr/>
          <p:nvPr/>
        </p:nvSpPr>
        <p:spPr>
          <a:xfrm>
            <a:off x="9801225" y="2467610"/>
            <a:ext cx="7372350" cy="3067050"/>
          </a:xfrm>
          <a:prstGeom prst="rect">
            <a:avLst/>
          </a:prstGeom>
          <a:solidFill>
            <a:srgbClr val="38B6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37870" algn="l" rtl="0" eaLnBrk="0">
              <a:lnSpc>
                <a:spcPct val="81000"/>
              </a:lnSpc>
              <a:spcBef>
                <a:spcPts val="5"/>
              </a:spcBef>
            </a:pPr>
            <a:r>
              <a:rPr sz="2400" b="1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State Tracki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6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35965" algn="l" rtl="0" eaLnBrk="0">
              <a:lnSpc>
                <a:spcPct val="78000"/>
              </a:lnSpc>
              <a:spcBef>
                <a:spcPts val="720"/>
              </a:spcBef>
            </a:pP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</a:t>
            </a:r>
            <a:r>
              <a:rPr sz="2400" kern="0" spc="3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manage</a:t>
            </a:r>
            <a:r>
              <a:rPr sz="2400" kern="0" spc="2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allocations,</a:t>
            </a:r>
            <a:r>
              <a:rPr sz="2400" kern="0" spc="2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</a:t>
            </a:r>
            <a:r>
              <a:rPr sz="2400" kern="0" spc="2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51205" algn="l" rtl="0" eaLnBrk="0">
              <a:lnSpc>
                <a:spcPct val="77000"/>
              </a:lnSpc>
              <a:spcBef>
                <a:spcPts val="1120"/>
              </a:spcBef>
            </a:pP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monitors</a:t>
            </a:r>
            <a:r>
              <a:rPr sz="2400" kern="0" spc="3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resources</a:t>
            </a:r>
            <a:r>
              <a:rPr sz="2400" kern="0" spc="3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currently</a:t>
            </a:r>
            <a:r>
              <a:rPr sz="2400" kern="0" spc="3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vailable,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50570" algn="l" rtl="0" eaLnBrk="0">
              <a:lnSpc>
                <a:spcPts val="3375"/>
              </a:lnSpc>
            </a:pP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resources</a:t>
            </a:r>
            <a:r>
              <a:rPr sz="2400" kern="0" spc="3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urrently</a:t>
            </a:r>
            <a:r>
              <a:rPr sz="2400" kern="0" spc="2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allocated</a:t>
            </a:r>
            <a:r>
              <a:rPr sz="2400" kern="0" spc="2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</a:t>
            </a:r>
            <a:r>
              <a:rPr sz="2400" kern="0" spc="3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each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51205" algn="l" rtl="0" eaLnBrk="0">
              <a:lnSpc>
                <a:spcPts val="3270"/>
              </a:lnSpc>
              <a:spcBef>
                <a:spcPts val="380"/>
              </a:spcBef>
            </a:pP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process,</a:t>
            </a:r>
            <a:r>
              <a:rPr sz="2400" kern="0" spc="2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</a:t>
            </a:r>
            <a:r>
              <a:rPr sz="2400" kern="0" spc="2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future</a:t>
            </a:r>
            <a:r>
              <a:rPr sz="2400" kern="0" spc="3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equests</a:t>
            </a:r>
            <a:r>
              <a:rPr sz="2400" kern="0" spc="-3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1112885" y="776878"/>
            <a:ext cx="5528309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4000"/>
              </a:lnSpc>
            </a:pPr>
            <a:r>
              <a:rPr sz="3900" b="1" kern="0" spc="-16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CHARACTERISTI</a:t>
            </a:r>
            <a:r>
              <a:rPr sz="3900" b="1" kern="0" spc="-17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CS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28700" y="1628775"/>
            <a:ext cx="16230600" cy="57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 52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8" name="group 8"/>
          <p:cNvGrpSpPr/>
          <p:nvPr/>
        </p:nvGrpSpPr>
        <p:grpSpPr>
          <a:xfrm rot="21600000">
            <a:off x="1076325" y="2466975"/>
            <a:ext cx="16135350" cy="1905000"/>
            <a:chOff x="0" y="0"/>
            <a:chExt cx="16135350" cy="1905000"/>
          </a:xfrm>
        </p:grpSpPr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6135350" cy="1905000"/>
            </a:xfrm>
            <a:prstGeom prst="rect">
              <a:avLst/>
            </a:prstGeom>
          </p:spPr>
        </p:pic>
        <p:sp>
          <p:nvSpPr>
            <p:cNvPr id="56" name="textbox 56"/>
            <p:cNvSpPr/>
            <p:nvPr/>
          </p:nvSpPr>
          <p:spPr>
            <a:xfrm>
              <a:off x="2453236" y="210908"/>
              <a:ext cx="12374880" cy="16306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2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1275" algn="l" rtl="0" eaLnBrk="0">
                <a:lnSpc>
                  <a:spcPct val="79000"/>
                </a:lnSpc>
              </a:pPr>
              <a:r>
                <a:rPr sz="2400" b="1" kern="0" spc="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Request</a:t>
              </a:r>
              <a:r>
                <a:rPr sz="2400" b="1" kern="0" spc="3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b="1" kern="0" spc="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Evaluatio</a:t>
              </a:r>
              <a:r>
                <a:rPr sz="2400" b="1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n: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0640" indent="-27940" algn="l" rtl="0" eaLnBrk="0">
                <a:lnSpc>
                  <a:spcPct val="116000"/>
                </a:lnSpc>
                <a:spcBef>
                  <a:spcPts val="355"/>
                </a:spcBef>
              </a:pPr>
              <a:r>
                <a:rPr sz="2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When</a:t>
              </a:r>
              <a:r>
                <a:rPr sz="2400" kern="0" spc="1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r>
                <a:rPr sz="2400" kern="0" spc="2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process</a:t>
              </a:r>
              <a:r>
                <a:rPr sz="2400" kern="0" spc="2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requests</a:t>
              </a:r>
              <a:r>
                <a:rPr sz="2400" kern="0" spc="2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resou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rces, the</a:t>
              </a:r>
              <a:r>
                <a:rPr sz="2400" kern="0" spc="1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operating system</a:t>
              </a:r>
              <a:r>
                <a:rPr sz="2400" kern="0" spc="2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uses</a:t>
              </a:r>
              <a:r>
                <a:rPr sz="2400" kern="0" spc="2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advance</a:t>
              </a:r>
              <a:r>
                <a:rPr sz="2400" kern="0" spc="2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information to</a:t>
              </a: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determine whether the</a:t>
              </a:r>
              <a:r>
                <a:rPr sz="2400" kern="0" spc="2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request</a:t>
              </a:r>
              <a:r>
                <a:rPr sz="2400" kern="0" spc="2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can</a:t>
              </a:r>
              <a:r>
                <a:rPr sz="2400" kern="0" spc="2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be satisfied</a:t>
              </a:r>
              <a:r>
                <a:rPr sz="2400" kern="0" spc="2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immediately</a:t>
              </a:r>
              <a:r>
                <a:rPr sz="2400" kern="0" spc="1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or</a:t>
              </a:r>
              <a:r>
                <a:rPr sz="2400" kern="0" spc="2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if the</a:t>
              </a:r>
              <a:r>
                <a:rPr sz="2400" kern="0" spc="2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proce</a:t>
              </a:r>
              <a:r>
                <a:rPr sz="24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ss</a:t>
              </a:r>
              <a:r>
                <a:rPr sz="2400" kern="0" spc="2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must</a:t>
              </a:r>
              <a:r>
                <a:rPr sz="2400" kern="0" spc="2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be</a:t>
              </a: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2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delayed.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76325" y="4981575"/>
            <a:ext cx="16135350" cy="19050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21600000">
            <a:off x="1076325" y="7496175"/>
            <a:ext cx="16135350" cy="1905000"/>
            <a:chOff x="0" y="0"/>
            <a:chExt cx="16135350" cy="1905000"/>
          </a:xfrm>
        </p:grpSpPr>
        <p:pic>
          <p:nvPicPr>
            <p:cNvPr id="60" name="picture 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6135350" cy="1905000"/>
            </a:xfrm>
            <a:prstGeom prst="rect">
              <a:avLst/>
            </a:prstGeom>
          </p:spPr>
        </p:pic>
        <p:sp>
          <p:nvSpPr>
            <p:cNvPr id="62" name="textbox 62"/>
            <p:cNvSpPr/>
            <p:nvPr/>
          </p:nvSpPr>
          <p:spPr>
            <a:xfrm>
              <a:off x="721587" y="380708"/>
              <a:ext cx="14428469" cy="10502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64030" algn="l" rtl="0" eaLnBrk="0">
                <a:lnSpc>
                  <a:spcPct val="76000"/>
                </a:lnSpc>
              </a:pPr>
              <a:r>
                <a:rPr sz="2400" b="1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Allocation</a:t>
              </a:r>
              <a:r>
                <a:rPr sz="2400" b="1" kern="0" spc="1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b="1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and</a:t>
              </a:r>
              <a:r>
                <a:rPr sz="2400" b="1" kern="0" spc="1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b="1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Waiting</a:t>
              </a:r>
              <a:r>
                <a:rPr sz="2400" b="1" kern="0" spc="1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: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6000"/>
                </a:lnSpc>
                <a:spcBef>
                  <a:spcPts val="75"/>
                </a:spcBef>
              </a:pPr>
              <a:r>
                <a:rPr sz="9800" b="1" kern="0" spc="70" baseline="-900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03</a:t>
              </a:r>
              <a:r>
                <a:rPr sz="6300" b="1" kern="0" spc="3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</a:t>
              </a:r>
              <a:r>
                <a:rPr sz="3600" kern="0" spc="70" baseline="6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If</a:t>
              </a:r>
              <a:r>
                <a:rPr sz="2300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600" kern="0" spc="70" baseline="6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the</a:t>
              </a:r>
              <a:r>
                <a:rPr sz="2300" kern="0" spc="3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600" kern="0" spc="70" baseline="6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request</a:t>
              </a:r>
              <a:r>
                <a:rPr sz="2300" kern="0" spc="3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600" kern="0" spc="70" baseline="6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is</a:t>
              </a:r>
              <a:r>
                <a:rPr sz="2300" kern="0" spc="2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600" kern="0" spc="70" baseline="6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granted,</a:t>
              </a:r>
              <a:r>
                <a:rPr sz="2300" kern="0" spc="3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600" kern="0" spc="70" baseline="6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resources</a:t>
              </a:r>
              <a:r>
                <a:rPr sz="2300" kern="0" spc="2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600" kern="0" spc="70" baseline="6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are</a:t>
              </a:r>
              <a:r>
                <a:rPr sz="2300" kern="0" spc="2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600" kern="0" spc="70" baseline="6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allocated</a:t>
              </a:r>
              <a:r>
                <a:rPr sz="2300" kern="0" spc="2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600" kern="0" spc="70" baseline="6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to</a:t>
              </a:r>
              <a:r>
                <a:rPr sz="2300" kern="0" spc="2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600" kern="0" spc="70" baseline="6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the</a:t>
              </a:r>
              <a:r>
                <a:rPr sz="2300" kern="0" spc="3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600" kern="0" spc="70" baseline="6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process;</a:t>
              </a:r>
              <a:r>
                <a:rPr sz="2300" kern="0" spc="2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600" kern="0" spc="70" baseline="6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otherwise,</a:t>
              </a:r>
              <a:r>
                <a:rPr sz="2300" kern="0" spc="2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600" kern="0" spc="70" baseline="6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the</a:t>
              </a:r>
              <a:r>
                <a:rPr sz="2300" kern="0" spc="3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600" kern="0" spc="70" baseline="6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proc</a:t>
              </a:r>
              <a:r>
                <a:rPr sz="3600" kern="0" spc="60" baseline="6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ess</a:t>
              </a:r>
              <a:endParaRPr sz="3600" baseline="6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4" name="textbox 64"/>
          <p:cNvSpPr/>
          <p:nvPr/>
        </p:nvSpPr>
        <p:spPr>
          <a:xfrm>
            <a:off x="3535425" y="5335867"/>
            <a:ext cx="12167234" cy="1265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Analysis</a:t>
            </a:r>
            <a:r>
              <a:rPr sz="2400" b="1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Logic: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495" indent="11430" algn="l" rtl="0" eaLnBrk="0">
              <a:lnSpc>
                <a:spcPct val="117000"/>
              </a:lnSpc>
              <a:spcBef>
                <a:spcPts val="705"/>
              </a:spcBef>
            </a:pP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</a:t>
            </a:r>
            <a:r>
              <a:rPr sz="2400" kern="0" spc="2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decide</a:t>
            </a:r>
            <a:r>
              <a:rPr sz="2400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 a</a:t>
            </a:r>
            <a:r>
              <a:rPr sz="2400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</a:t>
            </a:r>
            <a:r>
              <a:rPr sz="2400" kern="0" spc="3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request</a:t>
            </a:r>
            <a:r>
              <a:rPr sz="2400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is</a:t>
            </a:r>
            <a:r>
              <a:rPr sz="2400" kern="0" spc="2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safe, the</a:t>
            </a:r>
            <a:r>
              <a:rPr sz="2400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</a:t>
            </a:r>
            <a:r>
              <a:rPr sz="2400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evaluates the</a:t>
            </a:r>
            <a:r>
              <a:rPr sz="2400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resources</a:t>
            </a:r>
            <a:r>
              <a:rPr sz="2400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currently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available, the</a:t>
            </a:r>
            <a:r>
              <a:rPr sz="2400" kern="0" spc="3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ources</a:t>
            </a:r>
            <a:r>
              <a:rPr sz="2400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currently</a:t>
            </a:r>
            <a:r>
              <a:rPr sz="2400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allocated to</a:t>
            </a:r>
            <a:r>
              <a:rPr sz="2400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each</a:t>
            </a:r>
            <a:r>
              <a:rPr sz="2400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process,</a:t>
            </a:r>
            <a:r>
              <a:rPr sz="2400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</a:t>
            </a:r>
            <a:r>
              <a:rPr sz="2400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 future</a:t>
            </a:r>
            <a:r>
              <a:rPr sz="2400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requests</a:t>
            </a:r>
            <a:r>
              <a:rPr sz="2400" kern="0" spc="-3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3537432" y="8799529"/>
            <a:ext cx="10574019" cy="312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enters</a:t>
            </a:r>
            <a:r>
              <a:rPr sz="2400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waiting</a:t>
            </a:r>
            <a:r>
              <a:rPr sz="2400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state</a:t>
            </a:r>
            <a:r>
              <a:rPr sz="2400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until</a:t>
            </a:r>
            <a:r>
              <a:rPr sz="2400" kern="0" spc="3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resources</a:t>
            </a:r>
            <a:r>
              <a:rPr sz="2400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are</a:t>
            </a:r>
            <a:r>
              <a:rPr sz="2400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release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24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</a:t>
            </a:r>
            <a:r>
              <a:rPr sz="2400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prevent</a:t>
            </a:r>
            <a:r>
              <a:rPr sz="2400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2400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deadlock.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1205129" y="929718"/>
            <a:ext cx="4970145" cy="466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4000"/>
              </a:lnSpc>
            </a:pPr>
            <a:r>
              <a:rPr sz="3900" b="1" kern="0" spc="-13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WORKING PRI</a:t>
            </a:r>
            <a:r>
              <a:rPr sz="3900" b="1" kern="0" spc="-14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NCIPLE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28700" y="1628775"/>
            <a:ext cx="16230600" cy="57150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1794902" y="3060721"/>
            <a:ext cx="890269" cy="786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9000"/>
              </a:lnSpc>
            </a:pPr>
            <a:r>
              <a:rPr sz="6300" b="1" kern="0" spc="-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6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1794902" y="5576084"/>
            <a:ext cx="890269" cy="786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9000"/>
              </a:lnSpc>
            </a:pPr>
            <a:r>
              <a:rPr sz="6300" b="1" kern="0" spc="-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6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 76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r>
              <a:rPr lang="en-US" altLang="zh-CN"/>
              <a:t>package oslab6;</a:t>
            </a:r>
            <a:endParaRPr lang="en-US" altLang="zh-CN"/>
          </a:p>
          <a:p>
            <a:pPr algn="ctr"/>
            <a:r>
              <a:rPr lang="en-US" altLang="zh-CN"/>
              <a:t>import java.util.Scanner;</a:t>
            </a:r>
            <a:endParaRPr lang="en-US" altLang="zh-CN"/>
          </a:p>
          <a:p>
            <a:pPr algn="ctr"/>
            <a:r>
              <a:rPr lang="en-US" altLang="zh-CN"/>
              <a:t>public class OSLAB6 {</a:t>
            </a:r>
            <a:endParaRPr lang="en-US" altLang="zh-CN"/>
          </a:p>
          <a:p>
            <a:pPr algn="ctr"/>
            <a:r>
              <a:rPr lang="en-US" altLang="zh-CN"/>
              <a:t> </a:t>
            </a:r>
            <a:endParaRPr lang="en-US" altLang="zh-CN"/>
          </a:p>
          <a:p>
            <a:pPr algn="ctr"/>
            <a:r>
              <a:rPr lang="en-US" altLang="zh-CN"/>
              <a:t> // Number of customers</a:t>
            </a:r>
            <a:endParaRPr lang="en-US" altLang="zh-CN"/>
          </a:p>
          <a:p>
            <a:pPr algn="ctr"/>
            <a:r>
              <a:rPr lang="en-US" altLang="zh-CN"/>
              <a:t> static int totalCustomers = 3;</a:t>
            </a:r>
            <a:endParaRPr lang="en-US" altLang="zh-CN"/>
          </a:p>
          <a:p>
            <a:pPr algn="ctr"/>
            <a:r>
              <a:rPr lang="en-US" altLang="zh-CN"/>
              <a:t> // Same maximum loan limit for all customers</a:t>
            </a:r>
            <a:endParaRPr lang="en-US" altLang="zh-CN"/>
          </a:p>
          <a:p>
            <a:pPr algn="ctr"/>
            <a:r>
              <a:rPr lang="en-US" altLang="zh-CN"/>
              <a:t> static int maxCredit = 100000;</a:t>
            </a:r>
            <a:endParaRPr lang="en-US" altLang="zh-CN"/>
          </a:p>
          <a:p>
            <a:pPr algn="ctr"/>
            <a:r>
              <a:rPr lang="en-US" altLang="zh-CN"/>
              <a:t> // Current borrowed amount by customers</a:t>
            </a:r>
            <a:endParaRPr lang="en-US" altLang="zh-CN"/>
          </a:p>
          <a:p>
            <a:pPr algn="ctr"/>
            <a:r>
              <a:rPr lang="en-US" altLang="zh-CN"/>
              <a:t> static int[][] loanAmount = {</a:t>
            </a:r>
            <a:endParaRPr lang="en-US" altLang="zh-CN"/>
          </a:p>
          <a:p>
            <a:pPr algn="ctr"/>
            <a:r>
              <a:rPr lang="en-US" altLang="zh-CN"/>
              <a:t> { 20000 },</a:t>
            </a:r>
            <a:endParaRPr lang="en-US" altLang="zh-CN"/>
          </a:p>
          <a:p>
            <a:pPr algn="ctr"/>
            <a:r>
              <a:rPr lang="en-US" altLang="zh-CN"/>
              <a:t> { 30000 },</a:t>
            </a:r>
            <a:endParaRPr lang="en-US" altLang="zh-CN"/>
          </a:p>
          <a:p>
            <a:pPr algn="ctr"/>
            <a:r>
              <a:rPr lang="en-US" altLang="zh-CN"/>
              <a:t> { 15000 }</a:t>
            </a:r>
            <a:endParaRPr lang="en-US" altLang="zh-CN"/>
          </a:p>
          <a:p>
            <a:pPr algn="ctr"/>
            <a:r>
              <a:rPr lang="en-US" altLang="zh-CN"/>
              <a:t> };</a:t>
            </a:r>
            <a:endParaRPr lang="en-US" altLang="zh-CN"/>
          </a:p>
          <a:p>
            <a:pPr algn="ctr"/>
            <a:r>
              <a:rPr lang="en-US" altLang="zh-CN"/>
              <a:t> // Maximum loan each customer can borrow</a:t>
            </a:r>
            <a:endParaRPr lang="en-US" altLang="zh-CN"/>
          </a:p>
          <a:p>
            <a:pPr algn="ctr"/>
            <a:r>
              <a:rPr lang="en-US" altLang="zh-CN"/>
              <a:t> static int[][] maxLoan = new int[totalCustomers][1];</a:t>
            </a:r>
            <a:endParaRPr lang="en-US" altLang="zh-CN"/>
          </a:p>
          <a:p>
            <a:pPr algn="ctr"/>
            <a:r>
              <a:rPr lang="en-US" altLang="zh-CN"/>
              <a:t> // Remaining credit customer can still borrow</a:t>
            </a:r>
            <a:endParaRPr lang="en-US" altLang="zh-CN"/>
          </a:p>
          <a:p>
            <a:pPr algn="ctr"/>
            <a:r>
              <a:rPr lang="en-US" altLang="zh-CN"/>
              <a:t> static int[][] remainingCredit = new int[totalCustomers][1];</a:t>
            </a:r>
            <a:endParaRPr lang="en-US" altLang="zh-CN"/>
          </a:p>
          <a:p>
            <a:pPr algn="ctr"/>
            <a:r>
              <a:rPr lang="en-US" altLang="zh-CN"/>
              <a:t> // Total bank capital</a:t>
            </a:r>
            <a:endParaRPr lang="en-US" altLang="zh-CN"/>
          </a:p>
          <a:p>
            <a:pPr algn="ctr"/>
            <a:r>
              <a:rPr lang="en-US" altLang="zh-CN"/>
              <a:t> static int bankCapital = 500000;</a:t>
            </a:r>
            <a:endParaRPr lang="en-US" altLang="zh-CN"/>
          </a:p>
          <a:p>
            <a:pPr algn="ctr"/>
            <a:r>
              <a:rPr lang="en-US" altLang="zh-CN"/>
              <a:t> // Available money in bank</a:t>
            </a:r>
            <a:endParaRPr lang="en-US" altLang="zh-CN"/>
          </a:p>
          <a:p>
            <a:pPr algn="ctr"/>
            <a:r>
              <a:rPr lang="en-US" altLang="zh-CN"/>
              <a:t> static int availableFunds;</a:t>
            </a:r>
            <a:endParaRPr lang="en-US" altLang="zh-CN"/>
          </a:p>
          <a:p>
            <a:pPr algn="ctr"/>
            <a:r>
              <a:rPr lang="en-US" altLang="zh-CN"/>
              <a:t> // Initialize bank data</a:t>
            </a:r>
            <a:endParaRPr lang="en-US" altLang="zh-CN"/>
          </a:p>
          <a:p>
            <a:pPr algn="ctr"/>
            <a:r>
              <a:rPr lang="en-US" altLang="zh-CN"/>
              <a:t> static void initializeBank() {</a:t>
            </a:r>
            <a:endParaRPr lang="en-US" altLang="zh-CN"/>
          </a:p>
          <a:p>
            <a:pPr algn="ctr"/>
            <a:r>
              <a:rPr lang="en-US" altLang="zh-CN"/>
              <a:t> availableFunds = bankCapital;</a:t>
            </a:r>
            <a:endParaRPr lang="en-US" altLang="zh-CN"/>
          </a:p>
          <a:p>
            <a:pPr algn="ctr"/>
            <a:r>
              <a:rPr lang="en-US" altLang="zh-CN"/>
              <a:t> for (int i = 0; i &lt; totalCustomers; i++) {</a:t>
            </a:r>
            <a:endParaRPr lang="en-US" altLang="zh-CN"/>
          </a:p>
          <a:p>
            <a:pPr algn="ctr"/>
            <a:r>
              <a:rPr lang="en-US" altLang="zh-CN"/>
              <a:t> maxLoan[i][0] = maxCredit;</a:t>
            </a:r>
            <a:endParaRPr lang="zh-CN" altLang="en-US"/>
          </a:p>
        </p:txBody>
      </p:sp>
      <p:sp>
        <p:nvSpPr>
          <p:cNvPr id="78" name="textbox 78"/>
          <p:cNvSpPr/>
          <p:nvPr/>
        </p:nvSpPr>
        <p:spPr>
          <a:xfrm>
            <a:off x="1061216" y="776878"/>
            <a:ext cx="5816600" cy="466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4000"/>
              </a:lnSpc>
            </a:pPr>
            <a:r>
              <a:rPr sz="3900" b="1" kern="0" spc="-10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 IMPLEMENTATION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28700" y="1628775"/>
            <a:ext cx="16230600" cy="571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25" y="1910715"/>
            <a:ext cx="6063615" cy="78695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4180" y="1910715"/>
            <a:ext cx="6149340" cy="78714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 76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r>
              <a:rPr lang="en-US" altLang="zh-CN"/>
              <a:t>package oslab6;</a:t>
            </a:r>
            <a:endParaRPr lang="en-US" altLang="zh-CN"/>
          </a:p>
          <a:p>
            <a:pPr algn="ctr"/>
            <a:r>
              <a:rPr lang="en-US" altLang="zh-CN"/>
              <a:t>import java.util.Scanner;</a:t>
            </a:r>
            <a:endParaRPr lang="en-US" altLang="zh-CN"/>
          </a:p>
          <a:p>
            <a:pPr algn="ctr"/>
            <a:r>
              <a:rPr lang="en-US" altLang="zh-CN"/>
              <a:t>public class OSLAB6 {</a:t>
            </a:r>
            <a:endParaRPr lang="en-US" altLang="zh-CN"/>
          </a:p>
          <a:p>
            <a:pPr algn="ctr"/>
            <a:r>
              <a:rPr lang="en-US" altLang="zh-CN"/>
              <a:t> </a:t>
            </a:r>
            <a:endParaRPr lang="en-US" altLang="zh-CN"/>
          </a:p>
          <a:p>
            <a:pPr algn="ctr"/>
            <a:r>
              <a:rPr lang="en-US" altLang="zh-CN"/>
              <a:t> // Number of customers</a:t>
            </a:r>
            <a:endParaRPr lang="en-US" altLang="zh-CN"/>
          </a:p>
          <a:p>
            <a:pPr algn="ctr"/>
            <a:r>
              <a:rPr lang="en-US" altLang="zh-CN"/>
              <a:t> static int totalCustomers = 3;</a:t>
            </a:r>
            <a:endParaRPr lang="en-US" altLang="zh-CN"/>
          </a:p>
          <a:p>
            <a:pPr algn="ctr"/>
            <a:r>
              <a:rPr lang="en-US" altLang="zh-CN"/>
              <a:t> // Same maximum loan limit for all customers</a:t>
            </a:r>
            <a:endParaRPr lang="en-US" altLang="zh-CN"/>
          </a:p>
          <a:p>
            <a:pPr algn="ctr"/>
            <a:r>
              <a:rPr lang="en-US" altLang="zh-CN"/>
              <a:t> static int maxCredit = 100000;</a:t>
            </a:r>
            <a:endParaRPr lang="en-US" altLang="zh-CN"/>
          </a:p>
          <a:p>
            <a:pPr algn="ctr"/>
            <a:r>
              <a:rPr lang="en-US" altLang="zh-CN"/>
              <a:t> // Current borrowed amount by customers</a:t>
            </a:r>
            <a:endParaRPr lang="en-US" altLang="zh-CN"/>
          </a:p>
          <a:p>
            <a:pPr algn="ctr"/>
            <a:r>
              <a:rPr lang="en-US" altLang="zh-CN"/>
              <a:t> static int[][] loanAmount = {</a:t>
            </a:r>
            <a:endParaRPr lang="en-US" altLang="zh-CN"/>
          </a:p>
          <a:p>
            <a:pPr algn="ctr"/>
            <a:r>
              <a:rPr lang="en-US" altLang="zh-CN"/>
              <a:t> { 20000 },</a:t>
            </a:r>
            <a:endParaRPr lang="en-US" altLang="zh-CN"/>
          </a:p>
          <a:p>
            <a:pPr algn="ctr"/>
            <a:r>
              <a:rPr lang="en-US" altLang="zh-CN"/>
              <a:t> { 30000 },</a:t>
            </a:r>
            <a:endParaRPr lang="en-US" altLang="zh-CN"/>
          </a:p>
          <a:p>
            <a:pPr algn="ctr"/>
            <a:r>
              <a:rPr lang="en-US" altLang="zh-CN"/>
              <a:t> { 15000 }</a:t>
            </a:r>
            <a:endParaRPr lang="en-US" altLang="zh-CN"/>
          </a:p>
          <a:p>
            <a:pPr algn="ctr"/>
            <a:r>
              <a:rPr lang="en-US" altLang="zh-CN"/>
              <a:t> };</a:t>
            </a:r>
            <a:endParaRPr lang="en-US" altLang="zh-CN"/>
          </a:p>
          <a:p>
            <a:pPr algn="ctr"/>
            <a:r>
              <a:rPr lang="en-US" altLang="zh-CN"/>
              <a:t> // Maximum loan each customer can borrow</a:t>
            </a:r>
            <a:endParaRPr lang="en-US" altLang="zh-CN"/>
          </a:p>
          <a:p>
            <a:pPr algn="ctr"/>
            <a:r>
              <a:rPr lang="en-US" altLang="zh-CN"/>
              <a:t> static int[][] maxLoan = new int[totalCustomers][1];</a:t>
            </a:r>
            <a:endParaRPr lang="en-US" altLang="zh-CN"/>
          </a:p>
          <a:p>
            <a:pPr algn="ctr"/>
            <a:r>
              <a:rPr lang="en-US" altLang="zh-CN"/>
              <a:t> // Remaining credit customer can still borrow</a:t>
            </a:r>
            <a:endParaRPr lang="en-US" altLang="zh-CN"/>
          </a:p>
          <a:p>
            <a:pPr algn="ctr"/>
            <a:r>
              <a:rPr lang="en-US" altLang="zh-CN"/>
              <a:t> static int[][] remainingCredit = new int[totalCustomers][1];</a:t>
            </a:r>
            <a:endParaRPr lang="en-US" altLang="zh-CN"/>
          </a:p>
          <a:p>
            <a:pPr algn="ctr"/>
            <a:r>
              <a:rPr lang="en-US" altLang="zh-CN"/>
              <a:t> // Total bank capital</a:t>
            </a:r>
            <a:endParaRPr lang="en-US" altLang="zh-CN"/>
          </a:p>
          <a:p>
            <a:pPr algn="ctr"/>
            <a:r>
              <a:rPr lang="en-US" altLang="zh-CN"/>
              <a:t> static int bankCapital = 500000;</a:t>
            </a:r>
            <a:endParaRPr lang="en-US" altLang="zh-CN"/>
          </a:p>
          <a:p>
            <a:pPr algn="ctr"/>
            <a:r>
              <a:rPr lang="en-US" altLang="zh-CN"/>
              <a:t> // Available money in bank</a:t>
            </a:r>
            <a:endParaRPr lang="en-US" altLang="zh-CN"/>
          </a:p>
          <a:p>
            <a:pPr algn="ctr"/>
            <a:r>
              <a:rPr lang="en-US" altLang="zh-CN"/>
              <a:t> static int availableFunds;</a:t>
            </a:r>
            <a:endParaRPr lang="en-US" altLang="zh-CN"/>
          </a:p>
          <a:p>
            <a:pPr algn="ctr"/>
            <a:r>
              <a:rPr lang="en-US" altLang="zh-CN"/>
              <a:t> // Initialize bank data</a:t>
            </a:r>
            <a:endParaRPr lang="en-US" altLang="zh-CN"/>
          </a:p>
          <a:p>
            <a:pPr algn="ctr"/>
            <a:r>
              <a:rPr lang="en-US" altLang="zh-CN"/>
              <a:t> static void initializeBank() {</a:t>
            </a:r>
            <a:endParaRPr lang="en-US" altLang="zh-CN"/>
          </a:p>
          <a:p>
            <a:pPr algn="ctr"/>
            <a:r>
              <a:rPr lang="en-US" altLang="zh-CN"/>
              <a:t> availableFunds = bankCapital;</a:t>
            </a:r>
            <a:endParaRPr lang="en-US" altLang="zh-CN"/>
          </a:p>
          <a:p>
            <a:pPr algn="ctr"/>
            <a:r>
              <a:rPr lang="en-US" altLang="zh-CN"/>
              <a:t> for (int i = 0; i &lt; totalCustomers; i++) {</a:t>
            </a:r>
            <a:endParaRPr lang="en-US" altLang="zh-CN"/>
          </a:p>
          <a:p>
            <a:pPr algn="ctr"/>
            <a:r>
              <a:rPr lang="en-US" altLang="zh-CN"/>
              <a:t> maxLoan[i][0] = maxCredit;</a:t>
            </a:r>
            <a:endParaRPr lang="zh-CN" altLang="en-US"/>
          </a:p>
        </p:txBody>
      </p:sp>
      <p:sp>
        <p:nvSpPr>
          <p:cNvPr id="78" name="textbox 78"/>
          <p:cNvSpPr/>
          <p:nvPr/>
        </p:nvSpPr>
        <p:spPr>
          <a:xfrm>
            <a:off x="1061216" y="776878"/>
            <a:ext cx="5816600" cy="466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4000"/>
              </a:lnSpc>
            </a:pPr>
            <a:r>
              <a:rPr sz="3900" b="1" kern="0" spc="-10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 IMPLEMENTATION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28700" y="1628775"/>
            <a:ext cx="16230600" cy="571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25" y="1910715"/>
            <a:ext cx="6063615" cy="78695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4180" y="1910715"/>
            <a:ext cx="6149340" cy="78714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890" y="1910715"/>
            <a:ext cx="6064250" cy="78689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4180" y="1910715"/>
            <a:ext cx="6148705" cy="78714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 82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" name="textbox 84"/>
          <p:cNvSpPr/>
          <p:nvPr/>
        </p:nvSpPr>
        <p:spPr>
          <a:xfrm>
            <a:off x="1084905" y="776878"/>
            <a:ext cx="6650355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4000"/>
              </a:lnSpc>
            </a:pPr>
            <a:r>
              <a:rPr sz="3900" b="1" kern="0" spc="-14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PROGR</a:t>
            </a:r>
            <a:r>
              <a:rPr sz="3900" b="1" kern="0" spc="-13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AM SAMPLE OUTPU</a:t>
            </a:r>
            <a:r>
              <a:rPr sz="3900" b="1" kern="0" spc="-8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28700" y="1628775"/>
            <a:ext cx="16230600" cy="571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520" y="2740025"/>
            <a:ext cx="9204325" cy="5267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 88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0" name="textbox 90"/>
          <p:cNvSpPr/>
          <p:nvPr/>
        </p:nvSpPr>
        <p:spPr>
          <a:xfrm>
            <a:off x="1084905" y="776878"/>
            <a:ext cx="6650355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4000"/>
              </a:lnSpc>
            </a:pPr>
            <a:r>
              <a:rPr sz="3900" b="1" kern="0" spc="-14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PROGR</a:t>
            </a:r>
            <a:r>
              <a:rPr sz="3900" b="1" kern="0" spc="-13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AM SAMPLE OUTPU</a:t>
            </a:r>
            <a:r>
              <a:rPr sz="3900" b="1" kern="0" spc="-8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28700" y="1628775"/>
            <a:ext cx="16230600" cy="571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065" y="2071370"/>
            <a:ext cx="13183870" cy="74161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 94"/>
          <p:cNvSpPr/>
          <p:nvPr/>
        </p:nvSpPr>
        <p:spPr>
          <a:xfrm>
            <a:off x="0" y="0"/>
            <a:ext cx="18288000" cy="1028699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" name="textbox 96"/>
          <p:cNvSpPr/>
          <p:nvPr/>
        </p:nvSpPr>
        <p:spPr>
          <a:xfrm>
            <a:off x="5562724" y="4549460"/>
            <a:ext cx="6990080" cy="1184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5000"/>
              </a:lnSpc>
            </a:pPr>
            <a:endParaRPr sz="10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98" name="picture 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28700" y="1019175"/>
            <a:ext cx="16230600" cy="66675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8700" y="9201151"/>
            <a:ext cx="16230600" cy="5714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030" y="1485265"/>
            <a:ext cx="11711940" cy="73158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 94"/>
          <p:cNvSpPr/>
          <p:nvPr/>
        </p:nvSpPr>
        <p:spPr>
          <a:xfrm>
            <a:off x="0" y="0"/>
            <a:ext cx="18288000" cy="1028699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" name="textbox 96"/>
          <p:cNvSpPr/>
          <p:nvPr/>
        </p:nvSpPr>
        <p:spPr>
          <a:xfrm>
            <a:off x="5562724" y="4549460"/>
            <a:ext cx="6990080" cy="1184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5000"/>
              </a:lnSpc>
            </a:pPr>
            <a:r>
              <a:rPr sz="10200" b="1" kern="0" spc="-380" dirty="0">
                <a:solidFill>
                  <a:srgbClr val="38B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THANKYOU</a:t>
            </a:r>
            <a:endParaRPr sz="10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98" name="picture 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28700" y="1019175"/>
            <a:ext cx="16230600" cy="66675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8700" y="9201151"/>
            <a:ext cx="16230600" cy="571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3498</Words>
  <Application>WPS 演示</Application>
  <PresentationFormat/>
  <Paragraphs>130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黑体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Fortunate Son</cp:lastModifiedBy>
  <cp:revision>2</cp:revision>
  <dcterms:created xsi:type="dcterms:W3CDTF">2026-04-21T22:46:00Z</dcterms:created>
  <dcterms:modified xsi:type="dcterms:W3CDTF">2026-04-24T13:45:45Z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2026-04-22T14:42:18Z</vt:filetime>
  </property>
  <property fmtid="{D5CDD505-2E9C-101B-9397-08002B2CF9AE}" pid="4" name="KSOProductBuildVer">
    <vt:lpwstr>2052-12.1.0.25865</vt:lpwstr>
  </property>
  <property fmtid="{D5CDD505-2E9C-101B-9397-08002B2CF9AE}" pid="5" name="ICV">
    <vt:lpwstr>193A2177870C44B1B1ACA3D426462294_12</vt:lpwstr>
  </property>
</Properties>
</file>