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25128"/>
            <a:ext cx="9144000" cy="3093244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58A6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42875" y="910828"/>
            <a:ext cx="285750" cy="285750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82328"/>
            <a:ext cx="8001000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2" kern="0" dirty="0">
                <a:solidFill>
                  <a:srgbClr val="58A6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PAGE REPLACEMENT ALGORITHMS: FIFO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2828925"/>
            <a:ext cx="8001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D35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Operating Systems | Lab 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427214"/>
            <a:ext cx="6411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Course: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4089" y="3427214"/>
            <a:ext cx="1507331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Operating Systems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05733" y="3427214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Lab: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34358" y="3427214"/>
            <a:ext cx="4321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 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80867" y="3427214"/>
            <a:ext cx="4554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07719" y="3427214"/>
            <a:ext cx="8072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2026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43975" y="3946922"/>
            <a:ext cx="285750" cy="285750"/>
          </a:xfrm>
          <a:prstGeom prst="rect">
            <a:avLst/>
          </a:prstGeom>
          <a:solidFill>
            <a:srgbClr val="38D3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Virtual Memory &amp; Page Replacement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1187648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CONCEPTS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564481"/>
            <a:ext cx="3786188" cy="123586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813" y="1778794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Virtual memory separates logical memory from physical memory, giving applications the illusion of contiguous space.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000375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DEMAND PAGING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12927"/>
            <a:ext cx="135731" cy="1357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4388" y="3377208"/>
            <a:ext cx="354330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D3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Hit:</a:t>
            </a: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Requested page is in memory. No disk access </a:t>
            </a: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required.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87986"/>
            <a:ext cx="135731" cy="1357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4388" y="3852267"/>
            <a:ext cx="354330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Fault:</a:t>
            </a: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Requested page not in memory. Must be </a:t>
            </a: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brought from disk.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786313" y="1187648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REPLACEMENT PROBLEM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86313" y="1564481"/>
            <a:ext cx="3786188" cy="1528763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86313" y="1564481"/>
            <a:ext cx="3786188" cy="152876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Physical Memory: Virtual Memory: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├─ Frame 1: Page A ├─ Page A ✓ (in memory)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├─ Frame 2: Page B ├─ Page B ✓ (in memory)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├─ Frame 3: Page C ├─ Page C ✓ (in memory)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└─ Frame 4: Full ├─ Page D ✗ (NOT in memory)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└─ Page E ✗ (NOT in memory)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86313" y="3293269"/>
            <a:ext cx="3786188" cy="675084"/>
          </a:xfrm>
          <a:prstGeom prst="rect">
            <a:avLst/>
          </a:prstGeom>
          <a:solidFill>
            <a:srgbClr val="FF7B72">
              <a:alpha val="1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4786313" y="3293269"/>
            <a:ext cx="28575" cy="67508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9" name="Text 14"/>
          <p:cNvSpPr/>
          <p:nvPr/>
        </p:nvSpPr>
        <p:spPr>
          <a:xfrm>
            <a:off x="4786313" y="3293269"/>
            <a:ext cx="3786188" cy="6750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all frames are full and a page fault occurs, which page should be removed?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FIFO Algorithm Overview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1187648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FIFO PRINCIPLE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600200"/>
            <a:ext cx="3786188" cy="1135856"/>
          </a:xfrm>
          <a:prstGeom prst="rect">
            <a:avLst/>
          </a:prstGeom>
          <a:solidFill>
            <a:srgbClr val="38D353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00200"/>
            <a:ext cx="35719" cy="1135856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1814513"/>
            <a:ext cx="335756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In, First Out: The page that has been in memory the longest is removed first when replacement is needed.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2950369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QUEUE CONCEPT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1500" y="3362920"/>
            <a:ext cx="571500" cy="571500"/>
          </a:xfrm>
          <a:prstGeom prst="rect">
            <a:avLst/>
          </a:prstGeom>
          <a:solidFill>
            <a:srgbClr val="161B22"/>
          </a:solidFill>
          <a:ln w="18288">
            <a:solidFill>
              <a:srgbClr val="FF7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336292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Front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3591520"/>
            <a:ext cx="100013" cy="114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85888" y="3362920"/>
            <a:ext cx="571500" cy="5715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85888" y="336292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Page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3591520"/>
            <a:ext cx="100013" cy="1143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200275" y="3362920"/>
            <a:ext cx="571500" cy="571500"/>
          </a:xfrm>
          <a:prstGeom prst="rect">
            <a:avLst/>
          </a:prstGeom>
          <a:solidFill>
            <a:srgbClr val="161B22"/>
          </a:solidFill>
          <a:ln w="18288">
            <a:solidFill>
              <a:srgbClr val="38D35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200275" y="336292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8D35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Back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71500" y="4041577"/>
            <a:ext cx="37861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Oldest page at the front is replaced; newest page is added at the back.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86313" y="1187648"/>
            <a:ext cx="378618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REPLACEMENT DECISION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635919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43500" y="1600200"/>
            <a:ext cx="267533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Find the oldest page (first one loaded)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973461"/>
            <a:ext cx="171450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43500" y="1937742"/>
            <a:ext cx="232350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Remove that page from memory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311003"/>
            <a:ext cx="171450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43500" y="2275284"/>
            <a:ext cx="280213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Load the new page into the freed frame</a:t>
            </a:r>
            <a:endParaRPr lang="en-US" sz="10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648545"/>
            <a:ext cx="171450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43500" y="2612827"/>
            <a:ext cx="177343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Update the queue order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786313" y="2950369"/>
            <a:ext cx="3786188" cy="780064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4786313" y="2950369"/>
            <a:ext cx="3786188" cy="78006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Example (3 frames):</a:t>
            </a:r>
            <a:r>
              <a:rPr lang="en-US" sz="8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[ 1 2 3 ] → Request 4</a:t>
            </a:r>
            <a:r>
              <a:rPr lang="en-US" sz="8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8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[ 4 2 3 ] (1 was oldest, replaced)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74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Implementation &amp; Data Structures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1187648"/>
            <a:ext cx="4003877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DATA STRUCTURES (JAVA)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546622"/>
            <a:ext cx="4003877" cy="1757363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1546622"/>
            <a:ext cx="4003877" cy="175736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// Pages currently in memory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int[] frame = new int[frames];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9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// Page reference string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int[] reference = new int[pages];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9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// Circular pointer for FIFO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00" dirty="0">
                <a:solidFill>
                  <a:srgbClr val="7EE78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 index = 0;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468291"/>
            <a:ext cx="4003877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CIRCULAR INDEX LOGIC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48695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0" y="3827264"/>
            <a:ext cx="6482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Increment: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539478" y="3829050"/>
            <a:ext cx="216028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index = (index + 1) % frames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2659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250" y="4111228"/>
            <a:ext cx="564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421606" y="4111228"/>
            <a:ext cx="264497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oldest page is always replaced first.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750" y="4429125"/>
            <a:ext cx="1073348" cy="1696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4634508"/>
            <a:ext cx="40038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Relevance of Skills in Implementation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4932564" y="1187648"/>
            <a:ext cx="3639936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ALGORITHM FLOW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564" y="1568053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8314" y="1546622"/>
            <a:ext cx="187880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Check if page is in any frame.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564" y="1850231"/>
            <a:ext cx="142875" cy="1428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8314" y="1828800"/>
            <a:ext cx="2071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Hit: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5425483" y="1828800"/>
            <a:ext cx="147875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found. Do nothing.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564" y="2132409"/>
            <a:ext cx="89297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18314" y="2110978"/>
            <a:ext cx="3286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Fault: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5546927" y="2110978"/>
            <a:ext cx="9822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not found.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2564" y="2414588"/>
            <a:ext cx="125016" cy="1428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61189" y="2393156"/>
            <a:ext cx="18109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page at current index.</a:t>
            </a:r>
            <a:endParaRPr lang="en-US" sz="9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2564" y="2696766"/>
            <a:ext cx="125016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61189" y="2675334"/>
            <a:ext cx="158055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Increment index circularly.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2564" y="2978944"/>
            <a:ext cx="125016" cy="14287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61189" y="2957513"/>
            <a:ext cx="131266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the page fault.</a:t>
            </a:r>
            <a:endParaRPr lang="en-US" sz="950" dirty="0"/>
          </a:p>
        </p:txBody>
      </p:sp>
      <p:sp>
        <p:nvSpPr>
          <p:cNvPr id="33" name="Text 21"/>
          <p:cNvSpPr/>
          <p:nvPr/>
        </p:nvSpPr>
        <p:spPr>
          <a:xfrm>
            <a:off x="4932564" y="3346847"/>
            <a:ext cx="3639936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COMPLEXITY ANALYSIS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4932564" y="3705820"/>
            <a:ext cx="3639936" cy="978694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35" name="Shape 23"/>
          <p:cNvSpPr/>
          <p:nvPr/>
        </p:nvSpPr>
        <p:spPr>
          <a:xfrm>
            <a:off x="4932564" y="3705820"/>
            <a:ext cx="28575" cy="97869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6" name="Text 24"/>
          <p:cNvSpPr/>
          <p:nvPr/>
        </p:nvSpPr>
        <p:spPr>
          <a:xfrm>
            <a:off x="5075439" y="3848695"/>
            <a:ext cx="335418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Complexity:</a:t>
            </a: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O(n × m)</a:t>
            </a:r>
            <a:endParaRPr lang="en-US" sz="800" dirty="0"/>
          </a:p>
        </p:txBody>
      </p:sp>
      <p:sp>
        <p:nvSpPr>
          <p:cNvPr id="37" name="Text 25"/>
          <p:cNvSpPr/>
          <p:nvPr/>
        </p:nvSpPr>
        <p:spPr>
          <a:xfrm>
            <a:off x="5075439" y="4075509"/>
            <a:ext cx="3354186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</a:t>
            </a:r>
            <a:r>
              <a:rPr lang="en-US" sz="850" i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</a:t>
            </a: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number of page requests and </a:t>
            </a:r>
            <a:r>
              <a:rPr lang="en-US" sz="850" i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number </a:t>
            </a: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frames. Each request requires a linear search through the </a:t>
            </a:r>
            <a:r>
              <a:rPr lang="en-US" sz="8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375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709017"/>
            <a:ext cx="828675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3755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FIFO Example Walkthrough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32197" y="855464"/>
            <a:ext cx="795970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2197" y="855464"/>
            <a:ext cx="795970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STEP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222586" y="855464"/>
            <a:ext cx="679326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22586" y="855464"/>
            <a:ext cx="679326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REQ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892312" y="855464"/>
            <a:ext cx="563101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92312" y="855464"/>
            <a:ext cx="563101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47125" y="855464"/>
            <a:ext cx="564440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47125" y="855464"/>
            <a:ext cx="564440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F2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004589" y="855464"/>
            <a:ext cx="565779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04589" y="855464"/>
            <a:ext cx="565779" cy="31253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564675" y="855464"/>
            <a:ext cx="2361065" cy="312539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4675" y="855464"/>
            <a:ext cx="2361065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32197" y="1160859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24511" y="1160859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97977" y="116085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452594" y="116085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007212" y="116085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561829" y="1160859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32197" y="1416248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224511" y="1416248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897977" y="141624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452594" y="141624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007212" y="141624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561829" y="1416248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32197" y="1671638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224511" y="1671638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897977" y="167163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452594" y="167163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007212" y="1671638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561829" y="1671638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32197" y="1927027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224511" y="1927027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897977" y="1927027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452594" y="1927027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007212" y="1927027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561829" y="1927027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(1 replaced)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32197" y="2182416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224511" y="2182416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897977" y="2182416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452594" y="2182416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007212" y="2182416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561829" y="2182416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(2 replaced)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32197" y="2437805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224511" y="2437805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897977" y="2437805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452594" y="2437805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007212" y="2437805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561829" y="2437805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(3 replaced)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32197" y="2693194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1224511" y="2693194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1897977" y="2693194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2452594" y="2693194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007212" y="2693194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561829" y="2693194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(4 replaced)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32197" y="2948583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224511" y="2948583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897977" y="2948583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452594" y="2948583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007212" y="2948583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561829" y="2948583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35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Hit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432197" y="3203972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224511" y="3203972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897977" y="3203972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2452594" y="3203972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3007212" y="3203972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3561829" y="3203972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35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Hit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32197" y="3459361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224511" y="3459361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1897977" y="3459361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2452594" y="3459361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3007212" y="3459361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3561829" y="3459361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(2 replaced)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432197" y="3714750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11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1224511" y="3714750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1897977" y="3714750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2452594" y="3714750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3007212" y="3714750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561829" y="3714750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(5 replaced)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32197" y="3970139"/>
            <a:ext cx="792314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12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1224511" y="3970139"/>
            <a:ext cx="673466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1897977" y="397013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2452594" y="397013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3007212" y="3970139"/>
            <a:ext cx="554617" cy="25538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3561829" y="3970139"/>
            <a:ext cx="2363912" cy="25538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Fault (1 replaced)</a:t>
            </a:r>
            <a:endParaRPr lang="en-US" sz="750" dirty="0"/>
          </a:p>
        </p:txBody>
      </p:sp>
      <p:pic>
        <p:nvPicPr>
          <p:cNvPr id="9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866180"/>
            <a:ext cx="2471738" cy="1757363"/>
          </a:xfrm>
          <a:prstGeom prst="rect">
            <a:avLst/>
          </a:prstGeom>
        </p:spPr>
      </p:pic>
      <p:sp>
        <p:nvSpPr>
          <p:cNvPr id="91" name="Shape 87"/>
          <p:cNvSpPr/>
          <p:nvPr/>
        </p:nvSpPr>
        <p:spPr>
          <a:xfrm>
            <a:off x="6215063" y="2780705"/>
            <a:ext cx="2500313" cy="147697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2" name="Shape 88"/>
          <p:cNvSpPr/>
          <p:nvPr/>
        </p:nvSpPr>
        <p:spPr>
          <a:xfrm>
            <a:off x="6215063" y="2780705"/>
            <a:ext cx="2500313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3" name="Shape 89"/>
          <p:cNvSpPr/>
          <p:nvPr/>
        </p:nvSpPr>
        <p:spPr>
          <a:xfrm>
            <a:off x="8708231" y="2780705"/>
            <a:ext cx="7144" cy="147697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4" name="Shape 90"/>
          <p:cNvSpPr/>
          <p:nvPr/>
        </p:nvSpPr>
        <p:spPr>
          <a:xfrm>
            <a:off x="6215063" y="4250531"/>
            <a:ext cx="2500313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5" name="Shape 91"/>
          <p:cNvSpPr/>
          <p:nvPr/>
        </p:nvSpPr>
        <p:spPr>
          <a:xfrm>
            <a:off x="6215063" y="2780705"/>
            <a:ext cx="35719" cy="1476970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96" name="Text 92"/>
          <p:cNvSpPr/>
          <p:nvPr/>
        </p:nvSpPr>
        <p:spPr>
          <a:xfrm>
            <a:off x="6393656" y="2959298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Final Results</a:t>
            </a:r>
            <a:endParaRPr lang="en-US" sz="1200" dirty="0"/>
          </a:p>
        </p:txBody>
      </p:sp>
      <p:sp>
        <p:nvSpPr>
          <p:cNvPr id="97" name="Text 93"/>
          <p:cNvSpPr/>
          <p:nvPr/>
        </p:nvSpPr>
        <p:spPr>
          <a:xfrm>
            <a:off x="6393656" y="3266480"/>
            <a:ext cx="10161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Requests: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8372475" y="3266480"/>
            <a:ext cx="1643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  <p:sp>
        <p:nvSpPr>
          <p:cNvPr id="99" name="Text 95"/>
          <p:cNvSpPr/>
          <p:nvPr/>
        </p:nvSpPr>
        <p:spPr>
          <a:xfrm>
            <a:off x="6393656" y="3532584"/>
            <a:ext cx="7911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Faults:</a:t>
            </a:r>
            <a:endParaRPr lang="en-US" sz="1050" dirty="0"/>
          </a:p>
        </p:txBody>
      </p:sp>
      <p:sp>
        <p:nvSpPr>
          <p:cNvPr id="100" name="Text 96"/>
          <p:cNvSpPr/>
          <p:nvPr/>
        </p:nvSpPr>
        <p:spPr>
          <a:xfrm>
            <a:off x="8372475" y="3532584"/>
            <a:ext cx="1643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sp>
        <p:nvSpPr>
          <p:cNvPr id="101" name="Text 97"/>
          <p:cNvSpPr/>
          <p:nvPr/>
        </p:nvSpPr>
        <p:spPr>
          <a:xfrm>
            <a:off x="6393656" y="3798689"/>
            <a:ext cx="6572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Hits:</a:t>
            </a:r>
            <a:endParaRPr lang="en-US" sz="1050" dirty="0"/>
          </a:p>
        </p:txBody>
      </p:sp>
      <p:sp>
        <p:nvSpPr>
          <p:cNvPr id="102" name="Text 98"/>
          <p:cNvSpPr/>
          <p:nvPr/>
        </p:nvSpPr>
        <p:spPr>
          <a:xfrm>
            <a:off x="8454628" y="3798689"/>
            <a:ext cx="821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D3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Algorithm Characteristics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4615"/>
            <a:ext cx="207169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187648"/>
            <a:ext cx="1344811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ADVANTAGES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8775"/>
            <a:ext cx="107156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7250" y="1601986"/>
            <a:ext cx="151447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Implementation: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857250" y="1601986"/>
            <a:ext cx="2048470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to understand and implement with minimal code complexity.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41671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2314882"/>
            <a:ext cx="134838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Predictable Behavior: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857250" y="2314882"/>
            <a:ext cx="2227064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nature ensures same input yields same output.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54567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7250" y="3027778"/>
            <a:ext cx="95547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Overhead: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857250" y="3027778"/>
            <a:ext cx="2187773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circular queue requires minimal additional data structures.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67463"/>
            <a:ext cx="178594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7250" y="3740674"/>
            <a:ext cx="55899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Fairness: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857250" y="3740674"/>
            <a:ext cx="2046684" cy="37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page gets equal treatment based on arrival time.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8" y="1204615"/>
            <a:ext cx="207169" cy="2000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814763" y="1187648"/>
            <a:ext cx="1678781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FF7B7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3786188" y="1601986"/>
            <a:ext cx="119657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 Performance:</a:t>
            </a:r>
            <a:endParaRPr lang="en-US" sz="950" dirty="0"/>
          </a:p>
        </p:txBody>
      </p:sp>
      <p:sp>
        <p:nvSpPr>
          <p:cNvPr id="23" name="Text 14"/>
          <p:cNvSpPr/>
          <p:nvPr/>
        </p:nvSpPr>
        <p:spPr>
          <a:xfrm>
            <a:off x="3786188" y="1601986"/>
            <a:ext cx="2002036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 replace frequently used pages, ignoring usage patterns.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0438" y="2341671"/>
            <a:ext cx="142875" cy="1428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86188" y="2314882"/>
            <a:ext cx="114478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Belady's Anomaly: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3786188" y="2314882"/>
            <a:ext cx="2144911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Theoretical limitation where more frames can lead to more faults.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0438" y="3054567"/>
            <a:ext cx="142875" cy="1428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86188" y="3027778"/>
            <a:ext cx="80903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Optimal:</a:t>
            </a:r>
            <a:endParaRPr lang="en-US" sz="950" dirty="0"/>
          </a:p>
        </p:txBody>
      </p:sp>
      <p:sp>
        <p:nvSpPr>
          <p:cNvPr id="29" name="Text 18"/>
          <p:cNvSpPr/>
          <p:nvPr/>
        </p:nvSpPr>
        <p:spPr>
          <a:xfrm>
            <a:off x="3786188" y="3027778"/>
            <a:ext cx="2028825" cy="563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Does not minimize page faults compared to LRU or Optimal.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0438" y="3767463"/>
            <a:ext cx="142875" cy="14287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786188" y="3740674"/>
            <a:ext cx="107334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Optimization:</a:t>
            </a:r>
            <a:endParaRPr lang="en-US" sz="950" dirty="0"/>
          </a:p>
        </p:txBody>
      </p:sp>
      <p:sp>
        <p:nvSpPr>
          <p:cNvPr id="32" name="Text 20"/>
          <p:cNvSpPr/>
          <p:nvPr/>
        </p:nvSpPr>
        <p:spPr>
          <a:xfrm>
            <a:off x="3786188" y="3740674"/>
            <a:ext cx="2298502" cy="37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Doesn't learn from access patterns or page utility.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813" y="1187648"/>
            <a:ext cx="2000250" cy="28575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429375" y="4152305"/>
            <a:ext cx="21431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algorithm performance through statistical research methods.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Conclusion &amp; Comparison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116211"/>
            <a:ext cx="4247266" cy="1145791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30511"/>
            <a:ext cx="4018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516261"/>
            <a:ext cx="40186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Page Fault Rate = Faults / Total Pages</a:t>
            </a:r>
            <a:r>
              <a:rPr lang="en-US" sz="9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Hit Ratio = Hits / (Hits + Faults)</a:t>
            </a:r>
            <a:r>
              <a:rPr lang="en-US" sz="9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r>
              <a:rPr lang="en-US" sz="95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Miss Ratio = Faults / (Hits + Faults)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33079" y="1116211"/>
            <a:ext cx="3539421" cy="113150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47379" y="1230511"/>
            <a:ext cx="33108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RESULTS (SLIDE 5)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47379" y="1516261"/>
            <a:ext cx="700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Fault Rate: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52730" y="1516261"/>
            <a:ext cx="9054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10/12 (83.3%)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47379" y="1768078"/>
            <a:ext cx="6072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Hit Ratio: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4883" y="1768078"/>
            <a:ext cx="8233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2/12 (16.7%)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2319151"/>
            <a:ext cx="800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ALGORITHM COMPARISON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5072" y="2701342"/>
            <a:ext cx="2063455" cy="273248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5072" y="2701342"/>
            <a:ext cx="2063455" cy="27324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ASPECT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38527" y="2701342"/>
            <a:ext cx="1577150" cy="273248"/>
          </a:xfrm>
          <a:prstGeom prst="rect">
            <a:avLst/>
          </a:prstGeom>
          <a:solidFill>
            <a:srgbClr val="38D353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638527" y="2701342"/>
            <a:ext cx="15771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7"/>
          <p:cNvSpPr/>
          <p:nvPr/>
        </p:nvSpPr>
        <p:spPr>
          <a:xfrm>
            <a:off x="4208534" y="2701342"/>
            <a:ext cx="7144" cy="27324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Shape 18"/>
          <p:cNvSpPr/>
          <p:nvPr/>
        </p:nvSpPr>
        <p:spPr>
          <a:xfrm>
            <a:off x="2638527" y="2967447"/>
            <a:ext cx="15771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9"/>
          <p:cNvSpPr/>
          <p:nvPr/>
        </p:nvSpPr>
        <p:spPr>
          <a:xfrm>
            <a:off x="2638527" y="2701342"/>
            <a:ext cx="28575" cy="273248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23" name="Text 20"/>
          <p:cNvSpPr/>
          <p:nvPr/>
        </p:nvSpPr>
        <p:spPr>
          <a:xfrm>
            <a:off x="2638527" y="2701342"/>
            <a:ext cx="1577150" cy="27324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FIFO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15678" y="2701342"/>
            <a:ext cx="1452190" cy="273248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15678" y="2701342"/>
            <a:ext cx="1452190" cy="27324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OPTIMAL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7868" y="2701342"/>
            <a:ext cx="1408295" cy="273248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7868" y="2701342"/>
            <a:ext cx="1408295" cy="27324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LRU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076163" y="2701342"/>
            <a:ext cx="1492765" cy="273248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76163" y="2701342"/>
            <a:ext cx="1492765" cy="27324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LFU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75072" y="2967447"/>
            <a:ext cx="2063455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2222" y="3026383"/>
            <a:ext cx="9590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33504" y="2967447"/>
            <a:ext cx="1578490" cy="296466"/>
          </a:xfrm>
          <a:prstGeom prst="rect">
            <a:avLst/>
          </a:prstGeom>
          <a:solidFill>
            <a:srgbClr val="38D353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633504" y="2967447"/>
            <a:ext cx="157849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Shape 31"/>
          <p:cNvSpPr/>
          <p:nvPr/>
        </p:nvSpPr>
        <p:spPr>
          <a:xfrm>
            <a:off x="4204850" y="2967447"/>
            <a:ext cx="7144" cy="29646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Shape 32"/>
          <p:cNvSpPr/>
          <p:nvPr/>
        </p:nvSpPr>
        <p:spPr>
          <a:xfrm>
            <a:off x="2633504" y="3256769"/>
            <a:ext cx="157849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Shape 33"/>
          <p:cNvSpPr/>
          <p:nvPr/>
        </p:nvSpPr>
        <p:spPr>
          <a:xfrm>
            <a:off x="2633504" y="2967447"/>
            <a:ext cx="28575" cy="296466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37" name="Text 34"/>
          <p:cNvSpPr/>
          <p:nvPr/>
        </p:nvSpPr>
        <p:spPr>
          <a:xfrm>
            <a:off x="2633504" y="2967447"/>
            <a:ext cx="1578490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Simple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211994" y="2967447"/>
            <a:ext cx="1453418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11994" y="2967447"/>
            <a:ext cx="1453418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Impossible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660473" y="2967447"/>
            <a:ext cx="1411867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0473" y="2967447"/>
            <a:ext cx="1411867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071113" y="2967447"/>
            <a:ext cx="1497816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71113" y="2967447"/>
            <a:ext cx="1497816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75072" y="3256769"/>
            <a:ext cx="2063679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2222" y="3315705"/>
            <a:ext cx="7733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638751" y="3256769"/>
            <a:ext cx="1575727" cy="296466"/>
          </a:xfrm>
          <a:prstGeom prst="rect">
            <a:avLst/>
          </a:prstGeom>
          <a:solidFill>
            <a:srgbClr val="38D353">
              <a:alpha val="5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2638751" y="3256769"/>
            <a:ext cx="1575727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Shape 45"/>
          <p:cNvSpPr/>
          <p:nvPr/>
        </p:nvSpPr>
        <p:spPr>
          <a:xfrm>
            <a:off x="4207334" y="3256769"/>
            <a:ext cx="7144" cy="29646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9" name="Shape 46"/>
          <p:cNvSpPr/>
          <p:nvPr/>
        </p:nvSpPr>
        <p:spPr>
          <a:xfrm>
            <a:off x="2638751" y="3546091"/>
            <a:ext cx="1575727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0" name="Shape 47"/>
          <p:cNvSpPr/>
          <p:nvPr/>
        </p:nvSpPr>
        <p:spPr>
          <a:xfrm>
            <a:off x="2638751" y="3256769"/>
            <a:ext cx="28575" cy="296466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51" name="Text 48"/>
          <p:cNvSpPr/>
          <p:nvPr/>
        </p:nvSpPr>
        <p:spPr>
          <a:xfrm>
            <a:off x="2638751" y="3256769"/>
            <a:ext cx="1575727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214478" y="3256769"/>
            <a:ext cx="1443568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214478" y="3256769"/>
            <a:ext cx="1443568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658045" y="3256769"/>
            <a:ext cx="1413067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58045" y="3256769"/>
            <a:ext cx="1413067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Good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069801" y="3256769"/>
            <a:ext cx="1499127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69801" y="3256769"/>
            <a:ext cx="1499127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5072" y="3546091"/>
            <a:ext cx="2067195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2222" y="3605026"/>
            <a:ext cx="5875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Overhead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642267" y="3546091"/>
            <a:ext cx="1578378" cy="296466"/>
          </a:xfrm>
          <a:prstGeom prst="rect">
            <a:avLst/>
          </a:prstGeom>
          <a:solidFill>
            <a:srgbClr val="38D353">
              <a:alpha val="5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2642267" y="3546091"/>
            <a:ext cx="157837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2" name="Shape 59"/>
          <p:cNvSpPr/>
          <p:nvPr/>
        </p:nvSpPr>
        <p:spPr>
          <a:xfrm>
            <a:off x="4213501" y="3546091"/>
            <a:ext cx="7144" cy="29646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3" name="Shape 60"/>
          <p:cNvSpPr/>
          <p:nvPr/>
        </p:nvSpPr>
        <p:spPr>
          <a:xfrm>
            <a:off x="2642267" y="3835412"/>
            <a:ext cx="157837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4" name="Shape 61"/>
          <p:cNvSpPr/>
          <p:nvPr/>
        </p:nvSpPr>
        <p:spPr>
          <a:xfrm>
            <a:off x="2642267" y="3546091"/>
            <a:ext cx="28575" cy="296466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65" name="Shape 62"/>
          <p:cNvSpPr/>
          <p:nvPr/>
        </p:nvSpPr>
        <p:spPr>
          <a:xfrm>
            <a:off x="2713704" y="3606812"/>
            <a:ext cx="337542" cy="192881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6" name="Text 63"/>
          <p:cNvSpPr/>
          <p:nvPr/>
        </p:nvSpPr>
        <p:spPr>
          <a:xfrm>
            <a:off x="2713704" y="3606812"/>
            <a:ext cx="337542" cy="19288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4220645" y="3546091"/>
            <a:ext cx="1445995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77795" y="3606812"/>
            <a:ext cx="362545" cy="192881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69" name="Text 66"/>
          <p:cNvSpPr/>
          <p:nvPr/>
        </p:nvSpPr>
        <p:spPr>
          <a:xfrm>
            <a:off x="4277795" y="3606812"/>
            <a:ext cx="362545" cy="19288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5666640" y="3546091"/>
            <a:ext cx="1401877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723790" y="3606812"/>
            <a:ext cx="362545" cy="192881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72" name="Text 69"/>
          <p:cNvSpPr/>
          <p:nvPr/>
        </p:nvSpPr>
        <p:spPr>
          <a:xfrm>
            <a:off x="5723790" y="3606812"/>
            <a:ext cx="362545" cy="19288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7068517" y="3546091"/>
            <a:ext cx="1500411" cy="296466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125667" y="3601455"/>
            <a:ext cx="362545" cy="192881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75" name="Text 72"/>
          <p:cNvSpPr/>
          <p:nvPr/>
        </p:nvSpPr>
        <p:spPr>
          <a:xfrm>
            <a:off x="7125667" y="3601455"/>
            <a:ext cx="362545" cy="19288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575072" y="3835412"/>
            <a:ext cx="2067195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28650" y="3896134"/>
            <a:ext cx="9536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in Practice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2639616" y="3835412"/>
            <a:ext cx="1579104" cy="296466"/>
          </a:xfrm>
          <a:prstGeom prst="rect">
            <a:avLst/>
          </a:prstGeom>
          <a:solidFill>
            <a:srgbClr val="38D353">
              <a:alpha val="5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2639616" y="3835412"/>
            <a:ext cx="1579104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0" name="Shape 77"/>
          <p:cNvSpPr/>
          <p:nvPr/>
        </p:nvSpPr>
        <p:spPr>
          <a:xfrm>
            <a:off x="4211575" y="3835412"/>
            <a:ext cx="7144" cy="29646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1" name="Shape 78"/>
          <p:cNvSpPr/>
          <p:nvPr/>
        </p:nvSpPr>
        <p:spPr>
          <a:xfrm>
            <a:off x="2639616" y="4124734"/>
            <a:ext cx="1579104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2" name="Shape 79"/>
          <p:cNvSpPr/>
          <p:nvPr/>
        </p:nvSpPr>
        <p:spPr>
          <a:xfrm>
            <a:off x="2639616" y="3835412"/>
            <a:ext cx="28575" cy="296466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83" name="Text 80"/>
          <p:cNvSpPr/>
          <p:nvPr/>
        </p:nvSpPr>
        <p:spPr>
          <a:xfrm>
            <a:off x="2639616" y="3835412"/>
            <a:ext cx="1579104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Rarely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218719" y="3835412"/>
            <a:ext cx="1446665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218719" y="3835412"/>
            <a:ext cx="1446665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5665384" y="3835412"/>
            <a:ext cx="1402519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665384" y="3835412"/>
            <a:ext cx="1402519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Often</a:t>
            </a:r>
            <a:endParaRPr lang="en-US" sz="950" dirty="0"/>
          </a:p>
        </p:txBody>
      </p:sp>
      <p:sp>
        <p:nvSpPr>
          <p:cNvPr id="88" name="Shape 85"/>
          <p:cNvSpPr/>
          <p:nvPr/>
        </p:nvSpPr>
        <p:spPr>
          <a:xfrm>
            <a:off x="7067903" y="3835412"/>
            <a:ext cx="1501025" cy="296466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067903" y="3835412"/>
            <a:ext cx="1501025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Sometimes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0707" y="1141214"/>
            <a:ext cx="6402586" cy="2861072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58A6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56407" y="1026914"/>
            <a:ext cx="285750" cy="285750"/>
          </a:xfrm>
          <a:prstGeom prst="rect">
            <a:avLst/>
          </a:prstGeom>
          <a:solidFill>
            <a:srgbClr val="38D353"/>
          </a:solidFill>
          <a:ln/>
        </p:spPr>
      </p:sp>
      <p:sp>
        <p:nvSpPr>
          <p:cNvPr id="5" name="Text 2"/>
          <p:cNvSpPr/>
          <p:nvPr/>
        </p:nvSpPr>
        <p:spPr>
          <a:xfrm>
            <a:off x="2256532" y="1741289"/>
            <a:ext cx="4630936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200" b="1" spc="8" kern="0" dirty="0">
                <a:solidFill>
                  <a:srgbClr val="58A6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2256532" y="2721769"/>
            <a:ext cx="4630936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b="1" spc="4" kern="0" dirty="0">
                <a:solidFill>
                  <a:srgbClr val="38D3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ANY QUESTIONS?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601843" y="3830836"/>
            <a:ext cx="285750" cy="285750"/>
          </a:xfrm>
          <a:prstGeom prst="rect">
            <a:avLst/>
          </a:prstGeom>
          <a:solidFill>
            <a:srgbClr val="38D3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2026-04-22T17:08:51Z</dcterms:created>
  <dcterms:modified xsi:type="dcterms:W3CDTF">2026-04-22T17:08:51Z</dcterms:modified>
</cp:coreProperties>
</file>