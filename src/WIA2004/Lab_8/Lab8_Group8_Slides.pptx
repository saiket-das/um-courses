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6" r:id="rId8"/>
    <p:sldId id="267" r:id="rId9"/>
    <p:sldId id="262" r:id="rId10"/>
    <p:sldId id="265" r:id="rId11"/>
  </p:sldIdLst>
  <p:sldSz cx="18288000" cy="10287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9" Type="http://schemas.openxmlformats.org/officeDocument/2006/relationships/image" Target="../media/image4.pn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6.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image" Target="../media/image5.png"/><Relationship Id="rId2" Type="http://schemas.openxmlformats.org/officeDocument/2006/relationships/tags" Target="../tags/tag2.xml"/><Relationship Id="rId14" Type="http://schemas.openxmlformats.org/officeDocument/2006/relationships/slideLayout" Target="../slideLayouts/slideLayout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9.png"/><Relationship Id="rId2" Type="http://schemas.openxmlformats.org/officeDocument/2006/relationships/image" Target="../media/image7.pn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 2"/>
          <p:cNvSpPr/>
          <p:nvPr/>
        </p:nvSpPr>
        <p:spPr>
          <a:xfrm>
            <a:off x="-101600" y="0"/>
            <a:ext cx="18288000" cy="10286997"/>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4" name="textbox 4"/>
          <p:cNvSpPr/>
          <p:nvPr/>
        </p:nvSpPr>
        <p:spPr>
          <a:xfrm>
            <a:off x="2803525" y="3227705"/>
            <a:ext cx="12868275" cy="1610995"/>
          </a:xfrm>
          <a:prstGeom prst="rect">
            <a:avLst/>
          </a:prstGeom>
          <a:noFill/>
          <a:ln w="0" cap="flat">
            <a:noFill/>
            <a:prstDash val="solid"/>
            <a:miter lim="0"/>
          </a:ln>
        </p:spPr>
        <p:txBody>
          <a:bodyPr vert="horz" wrap="square" lIns="0" tIns="0" rIns="0" bIns="0"/>
          <a:lstStyle/>
          <a:p>
            <a:pPr algn="ctr" rtl="0" eaLnBrk="0">
              <a:lnSpc>
                <a:spcPct val="100000"/>
              </a:lnSpc>
            </a:pPr>
            <a:endParaRPr sz="100" dirty="0">
              <a:latin typeface="Arial" panose="020B0604020202020204"/>
              <a:ea typeface="Arial" panose="020B0604020202020204"/>
              <a:cs typeface="Arial" panose="020B0604020202020204"/>
            </a:endParaRPr>
          </a:p>
          <a:p>
            <a:pPr marL="12700" algn="ctr" rtl="0" eaLnBrk="0">
              <a:lnSpc>
                <a:spcPct val="100000"/>
              </a:lnSpc>
            </a:pPr>
            <a:r>
              <a:rPr lang="en-US" altLang="zh-CN" sz="5400" b="1" kern="0" spc="-10" dirty="0">
                <a:solidFill>
                  <a:srgbClr val="38B6FF">
                    <a:alpha val="100000"/>
                  </a:srgbClr>
                </a:solidFill>
                <a:latin typeface="Arial" panose="020B0604020202020204"/>
                <a:ea typeface="Arial" panose="020B0604020202020204"/>
                <a:cs typeface="Arial" panose="020B0604020202020204"/>
              </a:rPr>
              <a:t>LAB 8: DINING-PHILOSOPHERS PROBLEM FOR SYNCHRONIZATION</a:t>
            </a:r>
            <a:endParaRPr sz="5400" dirty="0">
              <a:latin typeface="Arial" panose="020B0604020202020204"/>
              <a:ea typeface="Arial" panose="020B0604020202020204"/>
              <a:cs typeface="Arial" panose="020B0604020202020204"/>
            </a:endParaRPr>
          </a:p>
        </p:txBody>
      </p:sp>
      <p:sp>
        <p:nvSpPr>
          <p:cNvPr id="6" name="textbox 6"/>
          <p:cNvSpPr/>
          <p:nvPr/>
        </p:nvSpPr>
        <p:spPr>
          <a:xfrm>
            <a:off x="6661480" y="6495823"/>
            <a:ext cx="5413375" cy="481965"/>
          </a:xfrm>
          <a:prstGeom prst="rect">
            <a:avLst/>
          </a:prstGeom>
          <a:noFill/>
          <a:ln w="0" cap="flat">
            <a:noFill/>
            <a:prstDash val="solid"/>
            <a:miter lim="0"/>
          </a:ln>
        </p:spPr>
        <p:txBody>
          <a:bodyPr vert="horz" wrap="square" lIns="0" tIns="0" rIns="0" bIns="0"/>
          <a:lstStyle/>
          <a:p>
            <a:pPr algn="l" rtl="0" eaLnBrk="0">
              <a:lnSpc>
                <a:spcPct val="74000"/>
              </a:lnSpc>
            </a:pPr>
            <a:endParaRPr sz="100" dirty="0">
              <a:latin typeface="Arial" panose="020B0604020202020204"/>
              <a:ea typeface="Arial" panose="020B0604020202020204"/>
              <a:cs typeface="Arial" panose="020B0604020202020204"/>
            </a:endParaRPr>
          </a:p>
          <a:p>
            <a:pPr algn="r" rtl="0" eaLnBrk="0">
              <a:lnSpc>
                <a:spcPct val="79000"/>
              </a:lnSpc>
            </a:pPr>
            <a:r>
              <a:rPr sz="3800" b="1" kern="0" spc="-200" dirty="0">
                <a:solidFill>
                  <a:srgbClr val="00BF63">
                    <a:alpha val="100000"/>
                  </a:srgbClr>
                </a:solidFill>
                <a:latin typeface="Arial" panose="020B0604020202020204"/>
                <a:ea typeface="Arial" panose="020B0604020202020204"/>
                <a:cs typeface="Arial" panose="020B0604020202020204"/>
              </a:rPr>
              <a:t>O</a:t>
            </a:r>
            <a:r>
              <a:rPr sz="3800" b="1" kern="0" spc="-190" dirty="0">
                <a:solidFill>
                  <a:srgbClr val="00BF63">
                    <a:alpha val="100000"/>
                  </a:srgbClr>
                </a:solidFill>
                <a:latin typeface="Arial" panose="020B0604020202020204"/>
                <a:ea typeface="Arial" panose="020B0604020202020204"/>
                <a:cs typeface="Arial" panose="020B0604020202020204"/>
              </a:rPr>
              <a:t>CC</a:t>
            </a:r>
            <a:r>
              <a:rPr sz="3800" b="1" kern="0" spc="480" dirty="0">
                <a:solidFill>
                  <a:srgbClr val="00BF63">
                    <a:alpha val="100000"/>
                  </a:srgbClr>
                </a:solidFill>
                <a:latin typeface="Arial" panose="020B0604020202020204"/>
                <a:ea typeface="Arial" panose="020B0604020202020204"/>
                <a:cs typeface="Arial" panose="020B0604020202020204"/>
              </a:rPr>
              <a:t> </a:t>
            </a:r>
            <a:r>
              <a:rPr sz="3800" b="1" kern="0" spc="-190" dirty="0">
                <a:solidFill>
                  <a:srgbClr val="00BF63">
                    <a:alpha val="100000"/>
                  </a:srgbClr>
                </a:solidFill>
                <a:latin typeface="Arial" panose="020B0604020202020204"/>
                <a:ea typeface="Arial" panose="020B0604020202020204"/>
                <a:cs typeface="Arial" panose="020B0604020202020204"/>
              </a:rPr>
              <a:t>:</a:t>
            </a:r>
            <a:r>
              <a:rPr sz="3800" b="1" kern="0" spc="420" dirty="0">
                <a:solidFill>
                  <a:srgbClr val="00BF63">
                    <a:alpha val="100000"/>
                  </a:srgbClr>
                </a:solidFill>
                <a:latin typeface="Arial" panose="020B0604020202020204"/>
                <a:ea typeface="Arial" panose="020B0604020202020204"/>
                <a:cs typeface="Arial" panose="020B0604020202020204"/>
              </a:rPr>
              <a:t> </a:t>
            </a:r>
            <a:r>
              <a:rPr sz="3800" b="1" kern="0" spc="-190" dirty="0">
                <a:solidFill>
                  <a:srgbClr val="00BF63">
                    <a:alpha val="100000"/>
                  </a:srgbClr>
                </a:solidFill>
                <a:latin typeface="Arial" panose="020B0604020202020204"/>
                <a:ea typeface="Arial" panose="020B0604020202020204"/>
                <a:cs typeface="Arial" panose="020B0604020202020204"/>
              </a:rPr>
              <a:t>1</a:t>
            </a:r>
            <a:r>
              <a:rPr sz="3800" b="1" kern="0" spc="70" dirty="0">
                <a:solidFill>
                  <a:srgbClr val="00BF63">
                    <a:alpha val="100000"/>
                  </a:srgbClr>
                </a:solidFill>
                <a:latin typeface="Arial" panose="020B0604020202020204"/>
                <a:ea typeface="Arial" panose="020B0604020202020204"/>
                <a:cs typeface="Arial" panose="020B0604020202020204"/>
              </a:rPr>
              <a:t>         </a:t>
            </a:r>
            <a:r>
              <a:rPr sz="3800" b="1" kern="0" spc="-190" dirty="0">
                <a:solidFill>
                  <a:srgbClr val="00BF63">
                    <a:alpha val="100000"/>
                  </a:srgbClr>
                </a:solidFill>
                <a:latin typeface="Arial" panose="020B0604020202020204"/>
                <a:ea typeface="Arial" panose="020B0604020202020204"/>
                <a:cs typeface="Arial" panose="020B0604020202020204"/>
              </a:rPr>
              <a:t>GROUP</a:t>
            </a:r>
            <a:r>
              <a:rPr sz="3800" b="1" kern="0" spc="460" dirty="0">
                <a:solidFill>
                  <a:srgbClr val="00BF63">
                    <a:alpha val="100000"/>
                  </a:srgbClr>
                </a:solidFill>
                <a:latin typeface="Arial" panose="020B0604020202020204"/>
                <a:ea typeface="Arial" panose="020B0604020202020204"/>
                <a:cs typeface="Arial" panose="020B0604020202020204"/>
              </a:rPr>
              <a:t> </a:t>
            </a:r>
            <a:r>
              <a:rPr sz="3800" b="1" kern="0" spc="-190" dirty="0">
                <a:solidFill>
                  <a:srgbClr val="00BF63">
                    <a:alpha val="100000"/>
                  </a:srgbClr>
                </a:solidFill>
                <a:latin typeface="Arial" panose="020B0604020202020204"/>
                <a:ea typeface="Arial" panose="020B0604020202020204"/>
                <a:cs typeface="Arial" panose="020B0604020202020204"/>
              </a:rPr>
              <a:t>: </a:t>
            </a:r>
            <a:r>
              <a:rPr sz="3800" b="1" kern="0" spc="-180" dirty="0">
                <a:solidFill>
                  <a:srgbClr val="00BF63">
                    <a:alpha val="100000"/>
                  </a:srgbClr>
                </a:solidFill>
                <a:latin typeface="Arial" panose="020B0604020202020204"/>
                <a:ea typeface="Arial" panose="020B0604020202020204"/>
                <a:cs typeface="Arial" panose="020B0604020202020204"/>
              </a:rPr>
              <a:t>8</a:t>
            </a:r>
            <a:endParaRPr sz="3800" dirty="0">
              <a:latin typeface="Arial" panose="020B0604020202020204"/>
              <a:ea typeface="Arial" panose="020B0604020202020204"/>
              <a:cs typeface="Arial" panose="020B0604020202020204"/>
            </a:endParaRPr>
          </a:p>
        </p:txBody>
      </p:sp>
      <p:pic>
        <p:nvPicPr>
          <p:cNvPr id="8" name="picture 8"/>
          <p:cNvPicPr>
            <a:picLocks noChangeAspect="1"/>
          </p:cNvPicPr>
          <p:nvPr/>
        </p:nvPicPr>
        <p:blipFill>
          <a:blip r:embed="rId1"/>
          <a:stretch>
            <a:fillRect/>
          </a:stretch>
        </p:blipFill>
        <p:spPr>
          <a:xfrm rot="21600000">
            <a:off x="2085975" y="1895475"/>
            <a:ext cx="14116050" cy="57150"/>
          </a:xfrm>
          <a:prstGeom prst="rect">
            <a:avLst/>
          </a:prstGeom>
        </p:spPr>
      </p:pic>
      <p:pic>
        <p:nvPicPr>
          <p:cNvPr id="10" name="picture 10"/>
          <p:cNvPicPr>
            <a:picLocks noChangeAspect="1"/>
          </p:cNvPicPr>
          <p:nvPr/>
        </p:nvPicPr>
        <p:blipFill>
          <a:blip r:embed="rId2"/>
          <a:stretch>
            <a:fillRect/>
          </a:stretch>
        </p:blipFill>
        <p:spPr>
          <a:xfrm rot="21600000">
            <a:off x="2085975" y="7934326"/>
            <a:ext cx="14116050" cy="57148"/>
          </a:xfrm>
          <a:prstGeom prst="rect">
            <a:avLst/>
          </a:prstGeom>
        </p:spPr>
      </p:pic>
      <p:sp>
        <p:nvSpPr>
          <p:cNvPr id="12" name="rect 12"/>
          <p:cNvSpPr/>
          <p:nvPr/>
        </p:nvSpPr>
        <p:spPr>
          <a:xfrm>
            <a:off x="8372475" y="5610225"/>
            <a:ext cx="1552575" cy="114300"/>
          </a:xfrm>
          <a:prstGeom prst="rect">
            <a:avLst/>
          </a:prstGeom>
          <a:solidFill>
            <a:srgbClr val="00BD61">
              <a:alpha val="98823"/>
            </a:srgbClr>
          </a:solidFill>
          <a:ln w="0" cap="flat">
            <a:noFill/>
            <a:prstDash val="solid"/>
            <a:miter lim="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 14"/>
          <p:cNvSpPr/>
          <p:nvPr/>
        </p:nvSpPr>
        <p:spPr>
          <a:xfrm>
            <a:off x="0" y="0"/>
            <a:ext cx="18288000" cy="10286996"/>
          </a:xfrm>
          <a:prstGeom prst="rect">
            <a:avLst/>
          </a:prstGeom>
          <a:solidFill>
            <a:srgbClr val="000000">
              <a:alpha val="100000"/>
            </a:srgbClr>
          </a:solidFill>
          <a:ln w="0" cap="flat">
            <a:noFill/>
            <a:prstDash val="solid"/>
            <a:miter lim="0"/>
          </a:ln>
        </p:spPr>
        <p:txBody>
          <a:bodyPr rtlCol="0"/>
          <a:lstStyle/>
          <a:p>
            <a:pPr algn="ctr"/>
            <a:endParaRPr lang="zh-CN" altLang="en-US"/>
          </a:p>
        </p:txBody>
      </p:sp>
      <p:grpSp>
        <p:nvGrpSpPr>
          <p:cNvPr id="2" name="group 2"/>
          <p:cNvGrpSpPr/>
          <p:nvPr/>
        </p:nvGrpSpPr>
        <p:grpSpPr>
          <a:xfrm rot="21600000">
            <a:off x="864870" y="4168775"/>
            <a:ext cx="16332200" cy="2984500"/>
            <a:chOff x="0" y="282575"/>
            <a:chExt cx="16332200" cy="2692400"/>
          </a:xfrm>
        </p:grpSpPr>
        <p:pic>
          <p:nvPicPr>
            <p:cNvPr id="16" name="picture 16"/>
            <p:cNvPicPr>
              <a:picLocks noChangeAspect="1"/>
            </p:cNvPicPr>
            <p:nvPr/>
          </p:nvPicPr>
          <p:blipFill>
            <a:blip r:embed="rId1"/>
            <a:stretch>
              <a:fillRect/>
            </a:stretch>
          </p:blipFill>
          <p:spPr>
            <a:xfrm rot="21600000">
              <a:off x="0" y="282575"/>
              <a:ext cx="16240125" cy="2295396"/>
            </a:xfrm>
            <a:prstGeom prst="rect">
              <a:avLst/>
            </a:prstGeom>
          </p:spPr>
        </p:pic>
        <p:sp>
          <p:nvSpPr>
            <p:cNvPr id="18" name="textbox 18"/>
            <p:cNvSpPr/>
            <p:nvPr/>
          </p:nvSpPr>
          <p:spPr>
            <a:xfrm>
              <a:off x="66675" y="459740"/>
              <a:ext cx="16265525" cy="2515235"/>
            </a:xfrm>
            <a:prstGeom prst="rect">
              <a:avLst/>
            </a:prstGeom>
            <a:noFill/>
            <a:ln w="0" cap="flat">
              <a:noFill/>
              <a:prstDash val="solid"/>
              <a:miter lim="0"/>
            </a:ln>
          </p:spPr>
          <p:txBody>
            <a:bodyPr vert="horz" wrap="square" lIns="0" tIns="0" rIns="0" bIns="0"/>
            <a:lstStyle/>
            <a:p>
              <a:pPr algn="l" rtl="0" eaLnBrk="0">
                <a:lnSpc>
                  <a:spcPct val="107000"/>
                </a:lnSpc>
              </a:pPr>
              <a:endParaRPr sz="1000" dirty="0">
                <a:latin typeface="Arial" panose="020B0604020202020204"/>
                <a:ea typeface="Arial" panose="020B0604020202020204"/>
                <a:cs typeface="Arial" panose="020B0604020202020204"/>
              </a:endParaRPr>
            </a:p>
            <a:p>
              <a:pPr algn="l" rtl="0" eaLnBrk="0">
                <a:lnSpc>
                  <a:spcPct val="60000"/>
                </a:lnSpc>
                <a:spcBef>
                  <a:spcPts val="0"/>
                </a:spcBef>
                <a:spcAft>
                  <a:spcPts val="0"/>
                </a:spcAft>
              </a:pPr>
              <a:endParaRPr sz="1000" dirty="0">
                <a:latin typeface="Arial" panose="020B0604020202020204"/>
                <a:ea typeface="Arial" panose="020B0604020202020204"/>
                <a:cs typeface="Arial" panose="020B0604020202020204"/>
              </a:endParaRPr>
            </a:p>
            <a:p>
              <a:pPr algn="l" rtl="0" eaLnBrk="0">
                <a:lnSpc>
                  <a:spcPct val="70000"/>
                </a:lnSpc>
                <a:spcBef>
                  <a:spcPts val="0"/>
                </a:spcBef>
                <a:spcAft>
                  <a:spcPts val="0"/>
                </a:spcAft>
              </a:pPr>
              <a:endParaRPr sz="1000" b="1" dirty="0">
                <a:solidFill>
                  <a:srgbClr val="00B0F0"/>
                </a:solidFill>
                <a:latin typeface="Arial" panose="020B0604020202020204"/>
                <a:ea typeface="Arial" panose="020B0604020202020204"/>
                <a:cs typeface="Arial" panose="020B0604020202020204"/>
              </a:endParaRPr>
            </a:p>
            <a:p>
              <a:pPr marL="346710" algn="l" rtl="0" eaLnBrk="0">
                <a:lnSpc>
                  <a:spcPct val="70000"/>
                </a:lnSpc>
                <a:spcBef>
                  <a:spcPts val="0"/>
                </a:spcBef>
                <a:spcAft>
                  <a:spcPts val="0"/>
                </a:spcAft>
              </a:pPr>
              <a:r>
                <a:rPr lang="en-US" altLang="zh-CN" sz="3000" b="1" dirty="0">
                  <a:solidFill>
                    <a:schemeClr val="accent5"/>
                  </a:solidFill>
                  <a:latin typeface="Arial" panose="020B0604020202020204"/>
                  <a:ea typeface="Arial" panose="020B0604020202020204"/>
                  <a:cs typeface="Arial" panose="020B0604020202020204"/>
                </a:rPr>
                <a:t>Synchronization Mechanism</a:t>
              </a:r>
              <a:endParaRPr lang="en-US" altLang="zh-CN" sz="3000" b="1" dirty="0">
                <a:solidFill>
                  <a:schemeClr val="accent5"/>
                </a:solidFill>
                <a:latin typeface="Arial" panose="020B0604020202020204"/>
                <a:ea typeface="Arial" panose="020B0604020202020204"/>
                <a:cs typeface="Arial" panose="020B0604020202020204"/>
              </a:endParaRPr>
            </a:p>
            <a:p>
              <a:pPr marL="346710" algn="l" rtl="0" eaLnBrk="0">
                <a:lnSpc>
                  <a:spcPct val="100000"/>
                </a:lnSpc>
                <a:spcBef>
                  <a:spcPts val="0"/>
                </a:spcBef>
              </a:pPr>
              <a:r>
                <a:rPr lang="en-US" altLang="zh-CN" sz="3000" dirty="0">
                  <a:latin typeface="Arial" panose="020B0604020202020204"/>
                  <a:ea typeface="Arial" panose="020B0604020202020204"/>
                  <a:cs typeface="Arial" panose="020B0604020202020204"/>
                </a:rPr>
                <a:t>To determine if a philosopher can eat, the system evaluates the real time states of adjacent neighbors and the availability of both required chopsticks. This logic ensures that resources are only granted when both neighbors are not in the EATING state</a:t>
              </a:r>
              <a:endParaRPr lang="en-US" altLang="zh-CN" sz="3000" dirty="0">
                <a:latin typeface="Arial" panose="020B0604020202020204"/>
                <a:ea typeface="Arial" panose="020B0604020202020204"/>
                <a:cs typeface="Arial" panose="020B0604020202020204"/>
              </a:endParaRPr>
            </a:p>
          </p:txBody>
        </p:sp>
      </p:grpSp>
      <p:sp>
        <p:nvSpPr>
          <p:cNvPr id="20" name="textbox 20"/>
          <p:cNvSpPr/>
          <p:nvPr/>
        </p:nvSpPr>
        <p:spPr>
          <a:xfrm>
            <a:off x="931545" y="1179830"/>
            <a:ext cx="15537180" cy="1457960"/>
          </a:xfrm>
          <a:prstGeom prst="rect">
            <a:avLst/>
          </a:prstGeom>
          <a:noFill/>
          <a:ln w="0" cap="flat">
            <a:noFill/>
            <a:prstDash val="solid"/>
            <a:miter lim="0"/>
          </a:ln>
        </p:spPr>
        <p:txBody>
          <a:bodyPr vert="horz" wrap="square" lIns="0" tIns="0" rIns="0" bIns="0"/>
          <a:lstStyle/>
          <a:p>
            <a:pPr algn="l" rtl="0" eaLnBrk="0">
              <a:lnSpc>
                <a:spcPct val="100000"/>
              </a:lnSpc>
            </a:pPr>
            <a:r>
              <a:rPr lang="en-US" altLang="zh-CN" sz="3000" b="1" kern="0" spc="100" dirty="0">
                <a:solidFill>
                  <a:schemeClr val="accent5">
                    <a:alpha val="100000"/>
                  </a:schemeClr>
                </a:solidFill>
                <a:latin typeface="Arial" panose="020B0604020202020204"/>
                <a:ea typeface="Arial" panose="020B0604020202020204"/>
                <a:cs typeface="Arial" panose="020B0604020202020204"/>
              </a:rPr>
              <a:t>Problem Overview &amp; System Logic</a:t>
            </a:r>
            <a:endParaRPr lang="en-US" altLang="zh-CN" sz="3000" b="1" kern="0" spc="100" dirty="0">
              <a:solidFill>
                <a:schemeClr val="accent5">
                  <a:alpha val="100000"/>
                </a:schemeClr>
              </a:solidFill>
              <a:latin typeface="Arial" panose="020B0604020202020204"/>
              <a:ea typeface="Arial" panose="020B0604020202020204"/>
              <a:cs typeface="Arial" panose="020B0604020202020204"/>
            </a:endParaRPr>
          </a:p>
          <a:p>
            <a:pPr algn="l" rtl="0" eaLnBrk="0">
              <a:lnSpc>
                <a:spcPct val="100000"/>
              </a:lnSpc>
            </a:pPr>
            <a:r>
              <a:rPr lang="en-US" altLang="zh-CN" sz="3000" kern="0" spc="100" dirty="0">
                <a:solidFill>
                  <a:srgbClr val="FFFFFF">
                    <a:alpha val="100000"/>
                  </a:srgbClr>
                </a:solidFill>
                <a:latin typeface="Arial" panose="020B0604020202020204"/>
                <a:ea typeface="Arial" panose="020B0604020202020204"/>
                <a:cs typeface="Arial" panose="020B0604020202020204"/>
              </a:rPr>
              <a:t>The Dining Philosophers problem is a classical synchronization challenge that models how systems manage concurrent access to shared resources. It ensures that thread requests are satisfied while strictly preventing system conflicts such as deadlock or starvation.</a:t>
            </a:r>
            <a:endParaRPr sz="3000" dirty="0">
              <a:latin typeface="Arial" panose="020B0604020202020204"/>
              <a:ea typeface="Arial" panose="020B0604020202020204"/>
              <a:cs typeface="Arial" panose="020B0604020202020204"/>
            </a:endParaRPr>
          </a:p>
        </p:txBody>
      </p:sp>
      <p:sp>
        <p:nvSpPr>
          <p:cNvPr id="22" name="textbox 22"/>
          <p:cNvSpPr/>
          <p:nvPr/>
        </p:nvSpPr>
        <p:spPr>
          <a:xfrm>
            <a:off x="864870" y="7153275"/>
            <a:ext cx="16240125" cy="176276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Arial" panose="020B0604020202020204"/>
              <a:ea typeface="Arial" panose="020B0604020202020204"/>
              <a:cs typeface="Arial" panose="020B0604020202020204"/>
            </a:endParaRPr>
          </a:p>
          <a:p>
            <a:pPr marL="27305" algn="l" rtl="0" eaLnBrk="0">
              <a:lnSpc>
                <a:spcPct val="100000"/>
              </a:lnSpc>
            </a:pPr>
            <a:r>
              <a:rPr lang="en-US" altLang="zh-CN" sz="3000" b="1" kern="0" spc="190" dirty="0">
                <a:solidFill>
                  <a:schemeClr val="accent5">
                    <a:alpha val="100000"/>
                  </a:schemeClr>
                </a:solidFill>
                <a:latin typeface="Arial" panose="020B0604020202020204"/>
                <a:ea typeface="Arial" panose="020B0604020202020204"/>
                <a:cs typeface="Arial" panose="020B0604020202020204"/>
              </a:rPr>
              <a:t>Primary System Application</a:t>
            </a:r>
            <a:endParaRPr lang="en-US" altLang="zh-CN" sz="3000" b="1" kern="0" spc="190" dirty="0">
              <a:solidFill>
                <a:schemeClr val="accent5">
                  <a:alpha val="100000"/>
                </a:schemeClr>
              </a:solidFill>
              <a:latin typeface="Arial" panose="020B0604020202020204"/>
              <a:ea typeface="Arial" panose="020B0604020202020204"/>
              <a:cs typeface="Arial" panose="020B0604020202020204"/>
            </a:endParaRPr>
          </a:p>
          <a:p>
            <a:pPr marL="27305" algn="l" rtl="0" eaLnBrk="0">
              <a:lnSpc>
                <a:spcPct val="100000"/>
              </a:lnSpc>
            </a:pPr>
            <a:r>
              <a:rPr lang="en-US" altLang="zh-CN" sz="3000" kern="0" spc="190" dirty="0">
                <a:solidFill>
                  <a:srgbClr val="FFFFFF">
                    <a:alpha val="100000"/>
                  </a:srgbClr>
                </a:solidFill>
                <a:latin typeface="Arial" panose="020B0604020202020204"/>
                <a:ea typeface="Arial" panose="020B0604020202020204"/>
                <a:cs typeface="Arial" panose="020B0604020202020204"/>
              </a:rPr>
              <a:t>This simulation represents how an operating system manages synchronization by making atomic decisions to grant or deny access to shared resources. It utilizes state tracking to prevent circular wait conditions and maintain mutual exclusion</a:t>
            </a:r>
            <a:r>
              <a:rPr sz="3000" kern="0" spc="190" dirty="0">
                <a:solidFill>
                  <a:srgbClr val="FFFFFF">
                    <a:alpha val="100000"/>
                  </a:srgbClr>
                </a:solidFill>
                <a:latin typeface="Arial" panose="020B0604020202020204"/>
                <a:ea typeface="Arial" panose="020B0604020202020204"/>
                <a:cs typeface="Arial" panose="020B0604020202020204"/>
              </a:rPr>
              <a:t>.</a:t>
            </a:r>
            <a:endParaRPr sz="3000" dirty="0">
              <a:latin typeface="Arial" panose="020B0604020202020204"/>
              <a:ea typeface="Arial" panose="020B0604020202020204"/>
              <a:cs typeface="Arial" panose="020B0604020202020204"/>
            </a:endParaRPr>
          </a:p>
        </p:txBody>
      </p:sp>
      <p:pic>
        <p:nvPicPr>
          <p:cNvPr id="24" name="picture 24"/>
          <p:cNvPicPr>
            <a:picLocks noChangeAspect="1"/>
          </p:cNvPicPr>
          <p:nvPr/>
        </p:nvPicPr>
        <p:blipFill>
          <a:blip r:embed="rId2"/>
          <a:stretch>
            <a:fillRect/>
          </a:stretch>
        </p:blipFill>
        <p:spPr>
          <a:xfrm rot="21600000">
            <a:off x="742950" y="561975"/>
            <a:ext cx="16230600" cy="571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 26"/>
          <p:cNvSpPr/>
          <p:nvPr/>
        </p:nvSpPr>
        <p:spPr>
          <a:xfrm>
            <a:off x="0" y="0"/>
            <a:ext cx="18288000" cy="10286997"/>
          </a:xfrm>
          <a:prstGeom prst="rect">
            <a:avLst/>
          </a:prstGeom>
          <a:solidFill>
            <a:srgbClr val="000000">
              <a:alpha val="100000"/>
            </a:srgbClr>
          </a:solidFill>
          <a:ln w="0" cap="flat">
            <a:noFill/>
            <a:prstDash val="solid"/>
            <a:miter lim="0"/>
          </a:ln>
        </p:spPr>
        <p:txBody>
          <a:bodyPr rtlCol="0"/>
          <a:lstStyle/>
          <a:p>
            <a:pPr algn="l" rtl="0" eaLnBrk="0">
              <a:lnSpc>
                <a:spcPct val="72000"/>
              </a:lnSpc>
            </a:pPr>
            <a:r>
              <a:rPr lang="en-US" altLang="zh-CN"/>
              <a:t>Thread Synchronization Management</a:t>
            </a:r>
            <a:endParaRPr lang="en-US" altLang="zh-CN"/>
          </a:p>
          <a:p>
            <a:pPr algn="l" rtl="0" eaLnBrk="0">
              <a:lnSpc>
                <a:spcPct val="72000"/>
              </a:lnSpc>
            </a:pPr>
            <a:r>
              <a:rPr lang="en-US" altLang="zh-CN"/>
              <a:t>The Dining Philosophers problem provides a synchronization challenge applicable to systems where multiple concurrent threads compete for limited shared resources. Process synchronization ensures these threads coordinate execution to maintain system integrity.  Philosopher State Monitoring</a:t>
            </a:r>
            <a:endParaRPr lang="en-US" altLang="zh-CN"/>
          </a:p>
          <a:p>
            <a:pPr algn="l" rtl="0" eaLnBrk="0">
              <a:lnSpc>
                <a:spcPct val="72000"/>
              </a:lnSpc>
            </a:pPr>
            <a:r>
              <a:rPr lang="en-US" altLang="zh-CN"/>
              <a:t>To manage resource access, the system monitors the real time status of each philosopher. It specifically tracks whether individuals are currently THINKING, HUNGRY, or EATING to inform allocation decisions.  Atomic Request Evaluation</a:t>
            </a:r>
            <a:endParaRPr lang="en-US" altLang="zh-CN"/>
          </a:p>
          <a:p>
            <a:pPr algn="l" rtl="0" eaLnBrk="0">
              <a:lnSpc>
                <a:spcPct val="72000"/>
              </a:lnSpc>
            </a:pPr>
            <a:r>
              <a:rPr lang="en-US" altLang="zh-CN"/>
              <a:t>The monitor evaluates state information to decide if a philosopher can pick up chopsticks by ensuring both adjacent neighbors are not in the EATING state. This atomic check ensures resources are only held when they can be fully utilized.  Deadlock and Starvation Prevention</a:t>
            </a:r>
            <a:endParaRPr lang="en-US" altLang="zh-CN"/>
          </a:p>
          <a:p>
            <a:pPr algn="l" rtl="0" eaLnBrk="0">
              <a:lnSpc>
                <a:spcPct val="72000"/>
              </a:lnSpc>
            </a:pPr>
            <a:r>
              <a:rPr lang="en-US" altLang="zh-CN"/>
              <a:t>This strategy ensures threads do not enter a circular wait condition by requiring atomic acquisition of all resources before proceeding. This management prevents deadlock where processes block indefinitely. </a:t>
            </a:r>
            <a:endParaRPr lang="zh-CN" altLang="en-US"/>
          </a:p>
        </p:txBody>
      </p:sp>
      <p:sp>
        <p:nvSpPr>
          <p:cNvPr id="48" name="textbox 48"/>
          <p:cNvSpPr/>
          <p:nvPr/>
        </p:nvSpPr>
        <p:spPr>
          <a:xfrm>
            <a:off x="1028700" y="776605"/>
            <a:ext cx="8856345" cy="466725"/>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algn="r" rtl="0" eaLnBrk="0">
              <a:lnSpc>
                <a:spcPct val="74000"/>
              </a:lnSpc>
            </a:pPr>
            <a:r>
              <a:rPr lang="en-US" altLang="zh-CN" sz="3900" b="1" kern="0" spc="-170" dirty="0">
                <a:solidFill>
                  <a:srgbClr val="38B6FF">
                    <a:alpha val="100000"/>
                  </a:srgbClr>
                </a:solidFill>
                <a:latin typeface="Arial" panose="020B0604020202020204"/>
                <a:ea typeface="Arial" panose="020B0604020202020204"/>
                <a:cs typeface="Arial" panose="020B0604020202020204"/>
              </a:rPr>
              <a:t>CORE SIMULATION CHARACTERISTIC</a:t>
            </a:r>
            <a:r>
              <a:rPr sz="3900" b="1" kern="0" spc="-170" dirty="0">
                <a:solidFill>
                  <a:srgbClr val="38B6FF">
                    <a:alpha val="100000"/>
                  </a:srgbClr>
                </a:solidFill>
                <a:latin typeface="Arial" panose="020B0604020202020204"/>
                <a:ea typeface="Arial" panose="020B0604020202020204"/>
                <a:cs typeface="Arial" panose="020B0604020202020204"/>
              </a:rPr>
              <a:t>S</a:t>
            </a:r>
            <a:endParaRPr sz="3900" dirty="0">
              <a:latin typeface="Arial" panose="020B0604020202020204"/>
              <a:ea typeface="Arial" panose="020B0604020202020204"/>
              <a:cs typeface="Arial" panose="020B0604020202020204"/>
            </a:endParaRPr>
          </a:p>
        </p:txBody>
      </p:sp>
      <p:pic>
        <p:nvPicPr>
          <p:cNvPr id="50" name="picture 50"/>
          <p:cNvPicPr>
            <a:picLocks noChangeAspect="1"/>
          </p:cNvPicPr>
          <p:nvPr/>
        </p:nvPicPr>
        <p:blipFill>
          <a:blip r:embed="rId1"/>
          <a:stretch>
            <a:fillRect/>
          </a:stretch>
        </p:blipFill>
        <p:spPr>
          <a:xfrm rot="21600000">
            <a:off x="1028700" y="1628775"/>
            <a:ext cx="16230600" cy="57150"/>
          </a:xfrm>
          <a:prstGeom prst="rect">
            <a:avLst/>
          </a:prstGeom>
        </p:spPr>
      </p:pic>
      <p:sp>
        <p:nvSpPr>
          <p:cNvPr id="3" name="文本框 2"/>
          <p:cNvSpPr txBox="1"/>
          <p:nvPr/>
        </p:nvSpPr>
        <p:spPr>
          <a:xfrm>
            <a:off x="1028700" y="2071370"/>
            <a:ext cx="16230600" cy="7493635"/>
          </a:xfrm>
          <a:prstGeom prst="rect">
            <a:avLst/>
          </a:prstGeom>
        </p:spPr>
        <p:txBody>
          <a:bodyPr wrap="square">
            <a:noAutofit/>
          </a:bodyPr>
          <a:p>
            <a:pPr>
              <a:lnSpc>
                <a:spcPct val="110000"/>
              </a:lnSpc>
              <a:spcBef>
                <a:spcPts val="0"/>
              </a:spcBef>
              <a:spcAft>
                <a:spcPts val="0"/>
              </a:spcAft>
            </a:pPr>
            <a:r>
              <a:rPr lang="en-US" altLang="zh-CN" sz="2400" b="1">
                <a:solidFill>
                  <a:schemeClr val="bg1"/>
                </a:solidFill>
                <a:latin typeface="Arial" panose="020B0604020202020204" pitchFamily="34" charset="0"/>
                <a:ea typeface="Google Sans Text"/>
                <a:cs typeface="Arial" panose="020B0604020202020204" pitchFamily="34" charset="0"/>
              </a:rPr>
              <a:t>Thread Synchronization Management</a:t>
            </a:r>
            <a:endParaRPr lang="en-US" altLang="zh-CN" sz="2400" b="1">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r>
              <a:rPr lang="en-US" altLang="zh-CN" sz="2400">
                <a:solidFill>
                  <a:schemeClr val="bg1"/>
                </a:solidFill>
                <a:latin typeface="Arial" panose="020B0604020202020204" pitchFamily="34" charset="0"/>
                <a:ea typeface="Google Sans Text"/>
                <a:cs typeface="Arial" panose="020B0604020202020204" pitchFamily="34" charset="0"/>
              </a:rPr>
              <a:t>The Dining Philosophers problem provides a synchronization challenge applicable to systems where multiple concurrent threads compete for limited shared resources. Process synchronization ensures these threads coordinate execution to maintain system integrity.</a:t>
            </a:r>
            <a:endParaRPr lang="en-US" altLang="zh-CN" sz="2400">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endParaRPr lang="en-US" altLang="zh-CN" sz="2400">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r>
              <a:rPr lang="en-US" altLang="zh-CN" sz="2400" b="1">
                <a:solidFill>
                  <a:schemeClr val="bg1"/>
                </a:solidFill>
                <a:latin typeface="Arial" panose="020B0604020202020204" pitchFamily="34" charset="0"/>
                <a:ea typeface="Google Sans Text"/>
                <a:cs typeface="Arial" panose="020B0604020202020204" pitchFamily="34" charset="0"/>
              </a:rPr>
              <a:t>Philosopher State Monitoring</a:t>
            </a:r>
            <a:endParaRPr lang="en-US" altLang="zh-CN" sz="2400" b="1">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r>
              <a:rPr lang="en-US" altLang="zh-CN" sz="2400">
                <a:solidFill>
                  <a:schemeClr val="bg1"/>
                </a:solidFill>
                <a:latin typeface="Arial" panose="020B0604020202020204" pitchFamily="34" charset="0"/>
                <a:ea typeface="Google Sans Text"/>
                <a:cs typeface="Arial" panose="020B0604020202020204" pitchFamily="34" charset="0"/>
              </a:rPr>
              <a:t>To manage resource access, the system monitors the real time status of each philosopher. It specifically tracks whether individuals are currently THINKING, HUNGRY, or EATING to inform allocation decisions.</a:t>
            </a:r>
            <a:endParaRPr lang="en-US" altLang="zh-CN" sz="2400">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endParaRPr lang="en-US" altLang="zh-CN" sz="2400">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r>
              <a:rPr lang="en-US" altLang="zh-CN" sz="2400" b="1">
                <a:solidFill>
                  <a:schemeClr val="bg1"/>
                </a:solidFill>
                <a:latin typeface="Arial" panose="020B0604020202020204" pitchFamily="34" charset="0"/>
                <a:ea typeface="Google Sans Text"/>
                <a:cs typeface="Arial" panose="020B0604020202020204" pitchFamily="34" charset="0"/>
              </a:rPr>
              <a:t>Atomic Request Evaluation</a:t>
            </a:r>
            <a:endParaRPr lang="en-US" altLang="zh-CN" sz="2400" b="1">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r>
              <a:rPr lang="en-US" altLang="zh-CN" sz="2400">
                <a:solidFill>
                  <a:schemeClr val="bg1"/>
                </a:solidFill>
                <a:latin typeface="Arial" panose="020B0604020202020204" pitchFamily="34" charset="0"/>
                <a:ea typeface="Google Sans Text"/>
                <a:cs typeface="Arial" panose="020B0604020202020204" pitchFamily="34" charset="0"/>
              </a:rPr>
              <a:t>The monitor evaluates state information to decide if a philosopher can pick up chopsticks by ensuring both adjacent neighbors are not in the EATING state. This atomic check ensures resources are only held when they can be fully utilized.</a:t>
            </a:r>
            <a:endParaRPr lang="en-US" altLang="zh-CN" sz="2400">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endParaRPr lang="en-US" altLang="zh-CN" sz="2400">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r>
              <a:rPr lang="en-US" altLang="zh-CN" sz="2400" b="1">
                <a:solidFill>
                  <a:schemeClr val="bg1"/>
                </a:solidFill>
                <a:latin typeface="Arial" panose="020B0604020202020204" pitchFamily="34" charset="0"/>
                <a:ea typeface="Google Sans Text"/>
                <a:cs typeface="Arial" panose="020B0604020202020204" pitchFamily="34" charset="0"/>
              </a:rPr>
              <a:t>Deadlock and Starvation Prevention</a:t>
            </a:r>
            <a:endParaRPr lang="en-US" altLang="zh-CN" sz="2400" b="1">
              <a:solidFill>
                <a:schemeClr val="bg1"/>
              </a:solidFill>
              <a:latin typeface="Arial" panose="020B0604020202020204" pitchFamily="34" charset="0"/>
              <a:ea typeface="Google Sans Text"/>
              <a:cs typeface="Arial" panose="020B0604020202020204" pitchFamily="34" charset="0"/>
            </a:endParaRPr>
          </a:p>
          <a:p>
            <a:pPr>
              <a:lnSpc>
                <a:spcPct val="110000"/>
              </a:lnSpc>
              <a:spcBef>
                <a:spcPts val="0"/>
              </a:spcBef>
              <a:spcAft>
                <a:spcPts val="0"/>
              </a:spcAft>
            </a:pPr>
            <a:r>
              <a:rPr lang="en-US" altLang="zh-CN" sz="2400">
                <a:solidFill>
                  <a:schemeClr val="bg1"/>
                </a:solidFill>
                <a:latin typeface="Arial" panose="020B0604020202020204" pitchFamily="34" charset="0"/>
                <a:ea typeface="Google Sans Text"/>
                <a:cs typeface="Arial" panose="020B0604020202020204" pitchFamily="34" charset="0"/>
              </a:rPr>
              <a:t>This strategy ensures threads do not enter a circular wait condition by requiring atomic acquisition of all resources before proceeding. This management prevents deadlock where processes block indefinitely.</a:t>
            </a:r>
            <a:endParaRPr lang="en-US" altLang="zh-CN" sz="2400">
              <a:solidFill>
                <a:schemeClr val="bg1"/>
              </a:solidFill>
              <a:latin typeface="Arial" panose="020B0604020202020204" pitchFamily="34" charset="0"/>
              <a:ea typeface="Google Sans Text"/>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 52"/>
          <p:cNvSpPr/>
          <p:nvPr/>
        </p:nvSpPr>
        <p:spPr>
          <a:xfrm>
            <a:off x="0" y="0"/>
            <a:ext cx="18288000" cy="10286997"/>
          </a:xfrm>
          <a:prstGeom prst="rect">
            <a:avLst/>
          </a:prstGeom>
          <a:solidFill>
            <a:srgbClr val="000000">
              <a:alpha val="100000"/>
            </a:srgbClr>
          </a:solidFill>
          <a:ln w="0" cap="flat">
            <a:noFill/>
            <a:prstDash val="solid"/>
            <a:miter lim="0"/>
          </a:ln>
        </p:spPr>
        <p:txBody>
          <a:bodyPr rtlCol="0"/>
          <a:lstStyle/>
          <a:p>
            <a:pPr algn="ctr"/>
            <a:endParaRPr lang="zh-CN" altLang="en-US"/>
          </a:p>
        </p:txBody>
      </p:sp>
      <p:grpSp>
        <p:nvGrpSpPr>
          <p:cNvPr id="8" name="group 8"/>
          <p:cNvGrpSpPr/>
          <p:nvPr>
            <p:custDataLst>
              <p:tags r:id="rId1"/>
            </p:custDataLst>
          </p:nvPr>
        </p:nvGrpSpPr>
        <p:grpSpPr>
          <a:xfrm rot="21600000">
            <a:off x="1076325" y="2466975"/>
            <a:ext cx="16135350" cy="1998345"/>
            <a:chOff x="0" y="0"/>
            <a:chExt cx="16135350" cy="1998345"/>
          </a:xfrm>
        </p:grpSpPr>
        <p:pic>
          <p:nvPicPr>
            <p:cNvPr id="54" name="picture 54"/>
            <p:cNvPicPr>
              <a:picLocks noChangeAspect="1"/>
            </p:cNvPicPr>
            <p:nvPr>
              <p:custDataLst>
                <p:tags r:id="rId2"/>
              </p:custDataLst>
            </p:nvPr>
          </p:nvPicPr>
          <p:blipFill>
            <a:blip r:embed="rId3"/>
            <a:stretch>
              <a:fillRect/>
            </a:stretch>
          </p:blipFill>
          <p:spPr>
            <a:xfrm rot="21600000">
              <a:off x="0" y="0"/>
              <a:ext cx="16135350" cy="1905000"/>
            </a:xfrm>
            <a:prstGeom prst="rect">
              <a:avLst/>
            </a:prstGeom>
          </p:spPr>
        </p:pic>
        <p:sp>
          <p:nvSpPr>
            <p:cNvPr id="56" name="textbox 56"/>
            <p:cNvSpPr/>
            <p:nvPr>
              <p:custDataLst>
                <p:tags r:id="rId4"/>
              </p:custDataLst>
            </p:nvPr>
          </p:nvSpPr>
          <p:spPr>
            <a:xfrm>
              <a:off x="2453005" y="367665"/>
              <a:ext cx="13186410" cy="1630680"/>
            </a:xfrm>
            <a:prstGeom prst="rect">
              <a:avLst/>
            </a:prstGeom>
            <a:noFill/>
            <a:ln w="0" cap="flat">
              <a:noFill/>
              <a:prstDash val="solid"/>
              <a:miter lim="0"/>
            </a:ln>
          </p:spPr>
          <p:txBody>
            <a:bodyPr vert="horz" wrap="square" lIns="0" tIns="0" rIns="0" bIns="0"/>
            <a:lstStyle/>
            <a:p>
              <a:pPr algn="l" rtl="0" eaLnBrk="0">
                <a:lnSpc>
                  <a:spcPct val="72000"/>
                </a:lnSpc>
              </a:pPr>
              <a:endParaRPr sz="100" dirty="0">
                <a:latin typeface="Arial" panose="020B0604020202020204"/>
                <a:ea typeface="Arial" panose="020B0604020202020204"/>
                <a:cs typeface="Arial" panose="020B0604020202020204"/>
              </a:endParaRPr>
            </a:p>
            <a:p>
              <a:pPr marL="41275" algn="l" rtl="0" eaLnBrk="0">
                <a:lnSpc>
                  <a:spcPct val="79000"/>
                </a:lnSpc>
              </a:pPr>
              <a:r>
                <a:rPr sz="2400" b="1" kern="0" spc="80" dirty="0">
                  <a:solidFill>
                    <a:srgbClr val="000000">
                      <a:alpha val="100000"/>
                    </a:srgbClr>
                  </a:solidFill>
                  <a:latin typeface="Arial" panose="020B0604020202020204"/>
                  <a:ea typeface="Arial" panose="020B0604020202020204"/>
                  <a:cs typeface="Arial" panose="020B0604020202020204"/>
                </a:rPr>
                <a:t>Request</a:t>
              </a:r>
              <a:r>
                <a:rPr sz="2400" b="1" kern="0" spc="330" dirty="0">
                  <a:solidFill>
                    <a:srgbClr val="000000">
                      <a:alpha val="100000"/>
                    </a:srgbClr>
                  </a:solidFill>
                  <a:latin typeface="Arial" panose="020B0604020202020204"/>
                  <a:ea typeface="Arial" panose="020B0604020202020204"/>
                  <a:cs typeface="Arial" panose="020B0604020202020204"/>
                </a:rPr>
                <a:t> </a:t>
              </a:r>
              <a:r>
                <a:rPr sz="2400" b="1" kern="0" spc="80" dirty="0">
                  <a:solidFill>
                    <a:srgbClr val="000000">
                      <a:alpha val="100000"/>
                    </a:srgbClr>
                  </a:solidFill>
                  <a:latin typeface="Arial" panose="020B0604020202020204"/>
                  <a:ea typeface="Arial" panose="020B0604020202020204"/>
                  <a:cs typeface="Arial" panose="020B0604020202020204"/>
                </a:rPr>
                <a:t>Evaluatio</a:t>
              </a:r>
              <a:r>
                <a:rPr sz="2400" b="1" kern="0" spc="70" dirty="0">
                  <a:solidFill>
                    <a:srgbClr val="000000">
                      <a:alpha val="100000"/>
                    </a:srgbClr>
                  </a:solidFill>
                  <a:latin typeface="Arial" panose="020B0604020202020204"/>
                  <a:ea typeface="Arial" panose="020B0604020202020204"/>
                  <a:cs typeface="Arial" panose="020B0604020202020204"/>
                </a:rPr>
                <a:t>n:</a:t>
              </a:r>
              <a:endParaRPr sz="2400" dirty="0">
                <a:latin typeface="Arial" panose="020B0604020202020204"/>
                <a:ea typeface="Arial" panose="020B0604020202020204"/>
                <a:cs typeface="Arial" panose="020B0604020202020204"/>
              </a:endParaRPr>
            </a:p>
            <a:p>
              <a:pPr marL="40640" indent="-27940" algn="l" rtl="0" eaLnBrk="0">
                <a:lnSpc>
                  <a:spcPct val="116000"/>
                </a:lnSpc>
                <a:spcBef>
                  <a:spcPts val="355"/>
                </a:spcBef>
              </a:pPr>
              <a:r>
                <a:rPr lang="en-US" altLang="zh-CN" sz="2400" dirty="0">
                  <a:latin typeface="Arial" panose="020B0604020202020204"/>
                  <a:ea typeface="Arial" panose="020B0604020202020204"/>
                  <a:cs typeface="Arial" panose="020B0604020202020204"/>
                </a:rPr>
                <a:t>Upon entering the HUNGRY state, the synchronization monitor immediately assesses whether the request for resources can be granted based on the current activity of adjacent neighbors.</a:t>
              </a:r>
              <a:endParaRPr lang="en-US" altLang="zh-CN" sz="2400" dirty="0">
                <a:latin typeface="Arial" panose="020B0604020202020204"/>
                <a:ea typeface="Arial" panose="020B0604020202020204"/>
                <a:cs typeface="Arial" panose="020B0604020202020204"/>
              </a:endParaRPr>
            </a:p>
          </p:txBody>
        </p:sp>
      </p:grpSp>
      <p:pic>
        <p:nvPicPr>
          <p:cNvPr id="58" name="picture 58"/>
          <p:cNvPicPr>
            <a:picLocks noChangeAspect="1"/>
          </p:cNvPicPr>
          <p:nvPr>
            <p:custDataLst>
              <p:tags r:id="rId5"/>
            </p:custDataLst>
          </p:nvPr>
        </p:nvPicPr>
        <p:blipFill>
          <a:blip r:embed="rId6"/>
          <a:stretch>
            <a:fillRect/>
          </a:stretch>
        </p:blipFill>
        <p:spPr>
          <a:xfrm rot="21600000">
            <a:off x="1076325" y="4981575"/>
            <a:ext cx="16135350" cy="1991360"/>
          </a:xfrm>
          <a:prstGeom prst="rect">
            <a:avLst/>
          </a:prstGeom>
        </p:spPr>
      </p:pic>
      <p:pic>
        <p:nvPicPr>
          <p:cNvPr id="60" name="picture 60"/>
          <p:cNvPicPr>
            <a:picLocks noChangeAspect="1"/>
          </p:cNvPicPr>
          <p:nvPr>
            <p:custDataLst>
              <p:tags r:id="rId7"/>
            </p:custDataLst>
          </p:nvPr>
        </p:nvPicPr>
        <p:blipFill>
          <a:blip r:embed="rId6"/>
          <a:stretch>
            <a:fillRect/>
          </a:stretch>
        </p:blipFill>
        <p:spPr>
          <a:xfrm>
            <a:off x="1076325" y="7496175"/>
            <a:ext cx="16135350" cy="2117090"/>
          </a:xfrm>
          <a:prstGeom prst="rect">
            <a:avLst/>
          </a:prstGeom>
        </p:spPr>
      </p:pic>
      <p:sp>
        <p:nvSpPr>
          <p:cNvPr id="64" name="textbox 64"/>
          <p:cNvSpPr/>
          <p:nvPr>
            <p:custDataLst>
              <p:tags r:id="rId8"/>
            </p:custDataLst>
          </p:nvPr>
        </p:nvSpPr>
        <p:spPr>
          <a:xfrm>
            <a:off x="3529330" y="5153025"/>
            <a:ext cx="13550900" cy="1265555"/>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marL="12700" algn="l" rtl="0" eaLnBrk="0">
              <a:lnSpc>
                <a:spcPct val="80000"/>
              </a:lnSpc>
            </a:pPr>
            <a:r>
              <a:rPr lang="en-US" altLang="zh-CN" sz="2400" b="1" kern="0" spc="20" dirty="0">
                <a:solidFill>
                  <a:srgbClr val="000000">
                    <a:alpha val="100000"/>
                  </a:srgbClr>
                </a:solidFill>
                <a:latin typeface="Arial" panose="020B0604020202020204"/>
                <a:ea typeface="Arial" panose="020B0604020202020204"/>
                <a:cs typeface="Arial" panose="020B0604020202020204"/>
              </a:rPr>
              <a:t>Safety Analysis Logic</a:t>
            </a:r>
            <a:r>
              <a:rPr sz="2400" b="1" kern="0" spc="2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p>
            <a:pPr marL="23495" indent="11430" algn="l" rtl="0" eaLnBrk="0">
              <a:lnSpc>
                <a:spcPct val="117000"/>
              </a:lnSpc>
              <a:spcBef>
                <a:spcPts val="705"/>
              </a:spcBef>
            </a:pPr>
            <a:r>
              <a:rPr lang="en-US" altLang="zh-CN" sz="2400" kern="0" spc="50" dirty="0">
                <a:solidFill>
                  <a:srgbClr val="000000">
                    <a:alpha val="100000"/>
                  </a:srgbClr>
                </a:solidFill>
                <a:latin typeface="Arial" panose="020B0604020202020204"/>
                <a:ea typeface="Arial" panose="020B0604020202020204"/>
                <a:cs typeface="Arial" panose="020B0604020202020204"/>
              </a:rPr>
              <a:t>The system evaluates the status of the left and right neighbors to ensure that neither is currently in the EATING state. This atomic verification prevents partial resource acquisition and maintains the integrity of the critical section.</a:t>
            </a:r>
            <a:endParaRPr sz="2400" dirty="0">
              <a:latin typeface="Arial" panose="020B0604020202020204"/>
              <a:ea typeface="Arial" panose="020B0604020202020204"/>
              <a:cs typeface="Arial" panose="020B0604020202020204"/>
            </a:endParaRPr>
          </a:p>
        </p:txBody>
      </p:sp>
      <p:sp>
        <p:nvSpPr>
          <p:cNvPr id="68" name="textbox 68"/>
          <p:cNvSpPr/>
          <p:nvPr/>
        </p:nvSpPr>
        <p:spPr>
          <a:xfrm>
            <a:off x="1076325" y="796925"/>
            <a:ext cx="6546215" cy="466090"/>
          </a:xfrm>
          <a:prstGeom prst="rect">
            <a:avLst/>
          </a:prstGeom>
          <a:noFill/>
          <a:ln w="0" cap="flat">
            <a:noFill/>
            <a:prstDash val="solid"/>
            <a:miter lim="0"/>
          </a:ln>
        </p:spPr>
        <p:txBody>
          <a:bodyPr vert="horz" wrap="square" lIns="0" tIns="0" rIns="0" bIns="0"/>
          <a:lstStyle/>
          <a:p>
            <a:pPr algn="l" rtl="0" eaLnBrk="0">
              <a:lnSpc>
                <a:spcPct val="86000"/>
              </a:lnSpc>
            </a:pPr>
            <a:r>
              <a:rPr lang="en-US" altLang="zh-CN" sz="3900" b="1" kern="0" spc="-140" dirty="0">
                <a:solidFill>
                  <a:srgbClr val="38B6FF">
                    <a:alpha val="100000"/>
                  </a:srgbClr>
                </a:solidFill>
                <a:latin typeface="Arial" panose="020B0604020202020204"/>
                <a:ea typeface="Arial" panose="020B0604020202020204"/>
                <a:cs typeface="Arial" panose="020B0604020202020204"/>
              </a:rPr>
              <a:t>OPERATIONAL WORKFLOW</a:t>
            </a:r>
            <a:endParaRPr sz="3900" dirty="0">
              <a:latin typeface="Arial" panose="020B0604020202020204"/>
              <a:ea typeface="Arial" panose="020B0604020202020204"/>
              <a:cs typeface="Arial" panose="020B0604020202020204"/>
            </a:endParaRPr>
          </a:p>
        </p:txBody>
      </p:sp>
      <p:pic>
        <p:nvPicPr>
          <p:cNvPr id="70" name="picture 70"/>
          <p:cNvPicPr>
            <a:picLocks noChangeAspect="1"/>
          </p:cNvPicPr>
          <p:nvPr/>
        </p:nvPicPr>
        <p:blipFill>
          <a:blip r:embed="rId9"/>
          <a:stretch>
            <a:fillRect/>
          </a:stretch>
        </p:blipFill>
        <p:spPr>
          <a:xfrm rot="21600000">
            <a:off x="1028700" y="1628775"/>
            <a:ext cx="16230600" cy="57150"/>
          </a:xfrm>
          <a:prstGeom prst="rect">
            <a:avLst/>
          </a:prstGeom>
        </p:spPr>
      </p:pic>
      <p:sp>
        <p:nvSpPr>
          <p:cNvPr id="72" name="textbox 72"/>
          <p:cNvSpPr/>
          <p:nvPr>
            <p:custDataLst>
              <p:tags r:id="rId10"/>
            </p:custDataLst>
          </p:nvPr>
        </p:nvSpPr>
        <p:spPr>
          <a:xfrm>
            <a:off x="1794902" y="3060721"/>
            <a:ext cx="890269" cy="78613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a:ea typeface="Arial" panose="020B0604020202020204"/>
              <a:cs typeface="Arial" panose="020B0604020202020204"/>
            </a:endParaRPr>
          </a:p>
          <a:p>
            <a:pPr algn="r" rtl="0" eaLnBrk="0">
              <a:lnSpc>
                <a:spcPct val="79000"/>
              </a:lnSpc>
            </a:pPr>
            <a:r>
              <a:rPr sz="6300" b="1" kern="0" spc="-110" dirty="0">
                <a:solidFill>
                  <a:srgbClr val="FFFFFF">
                    <a:alpha val="100000"/>
                  </a:srgbClr>
                </a:solidFill>
                <a:latin typeface="Arial" panose="020B0604020202020204"/>
                <a:ea typeface="Arial" panose="020B0604020202020204"/>
                <a:cs typeface="Arial" panose="020B0604020202020204"/>
              </a:rPr>
              <a:t>01</a:t>
            </a:r>
            <a:endParaRPr sz="6300" dirty="0">
              <a:latin typeface="Arial" panose="020B0604020202020204"/>
              <a:ea typeface="Arial" panose="020B0604020202020204"/>
              <a:cs typeface="Arial" panose="020B0604020202020204"/>
            </a:endParaRPr>
          </a:p>
        </p:txBody>
      </p:sp>
      <p:sp>
        <p:nvSpPr>
          <p:cNvPr id="74" name="textbox 74"/>
          <p:cNvSpPr/>
          <p:nvPr>
            <p:custDataLst>
              <p:tags r:id="rId11"/>
            </p:custDataLst>
          </p:nvPr>
        </p:nvSpPr>
        <p:spPr>
          <a:xfrm>
            <a:off x="1794902" y="5576084"/>
            <a:ext cx="890269" cy="78613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a:ea typeface="Arial" panose="020B0604020202020204"/>
              <a:cs typeface="Arial" panose="020B0604020202020204"/>
            </a:endParaRPr>
          </a:p>
          <a:p>
            <a:pPr algn="r" rtl="0" eaLnBrk="0">
              <a:lnSpc>
                <a:spcPct val="79000"/>
              </a:lnSpc>
            </a:pPr>
            <a:r>
              <a:rPr sz="6300" b="1" kern="0" spc="-110" dirty="0">
                <a:solidFill>
                  <a:srgbClr val="FFFFFF">
                    <a:alpha val="100000"/>
                  </a:srgbClr>
                </a:solidFill>
                <a:latin typeface="Arial" panose="020B0604020202020204"/>
                <a:ea typeface="Arial" panose="020B0604020202020204"/>
                <a:cs typeface="Arial" panose="020B0604020202020204"/>
              </a:rPr>
              <a:t>02</a:t>
            </a:r>
            <a:endParaRPr sz="6300" dirty="0">
              <a:latin typeface="Arial" panose="020B0604020202020204"/>
              <a:ea typeface="Arial" panose="020B0604020202020204"/>
              <a:cs typeface="Arial" panose="020B0604020202020204"/>
            </a:endParaRPr>
          </a:p>
        </p:txBody>
      </p:sp>
      <p:sp>
        <p:nvSpPr>
          <p:cNvPr id="2" name="textbox 64"/>
          <p:cNvSpPr/>
          <p:nvPr>
            <p:custDataLst>
              <p:tags r:id="rId12"/>
            </p:custDataLst>
          </p:nvPr>
        </p:nvSpPr>
        <p:spPr>
          <a:xfrm>
            <a:off x="3577590" y="7661910"/>
            <a:ext cx="13681710" cy="1265555"/>
          </a:xfrm>
          <a:prstGeom prst="rect">
            <a:avLst/>
          </a:prstGeom>
          <a:noFill/>
          <a:ln w="0" cap="flat">
            <a:noFill/>
            <a:prstDash val="solid"/>
            <a:miter lim="0"/>
          </a:ln>
        </p:spPr>
        <p:txBody>
          <a:bodyPr vert="horz" wrap="square" lIns="0" tIns="0" rIns="0" bIns="0"/>
          <a:lstStyle/>
          <a:p>
            <a:pPr algn="l" rtl="0" eaLnBrk="0">
              <a:lnSpc>
                <a:spcPct val="93000"/>
              </a:lnSpc>
            </a:pPr>
            <a:endParaRPr sz="100" dirty="0">
              <a:latin typeface="Arial" panose="020B0604020202020204"/>
              <a:ea typeface="Arial" panose="020B0604020202020204"/>
              <a:cs typeface="Arial" panose="020B0604020202020204"/>
            </a:endParaRPr>
          </a:p>
          <a:p>
            <a:pPr marL="12700" algn="l" rtl="0" eaLnBrk="0">
              <a:lnSpc>
                <a:spcPct val="80000"/>
              </a:lnSpc>
            </a:pPr>
            <a:r>
              <a:rPr lang="en-US" altLang="zh-CN" sz="2400" b="1" kern="0" spc="20" dirty="0">
                <a:solidFill>
                  <a:srgbClr val="000000">
                    <a:alpha val="100000"/>
                  </a:srgbClr>
                </a:solidFill>
                <a:latin typeface="Arial" panose="020B0604020202020204"/>
                <a:ea typeface="Arial" panose="020B0604020202020204"/>
                <a:cs typeface="Arial" panose="020B0604020202020204"/>
              </a:rPr>
              <a:t>Allocation and Blocking</a:t>
            </a:r>
            <a:r>
              <a:rPr sz="2400" b="1" kern="0" spc="2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a:p>
            <a:pPr marL="23495" indent="11430" algn="l" rtl="0" eaLnBrk="0">
              <a:lnSpc>
                <a:spcPct val="100000"/>
              </a:lnSpc>
              <a:spcBef>
                <a:spcPts val="705"/>
              </a:spcBef>
            </a:pPr>
            <a:r>
              <a:rPr lang="en-US" altLang="zh-CN" sz="2400" kern="0" spc="50" dirty="0">
                <a:solidFill>
                  <a:srgbClr val="000000">
                    <a:alpha val="100000"/>
                  </a:srgbClr>
                </a:solidFill>
                <a:latin typeface="Arial" panose="020B0604020202020204"/>
                <a:ea typeface="Arial" panose="020B0604020202020204"/>
                <a:cs typeface="Arial" panose="020B0604020202020204"/>
              </a:rPr>
              <a:t>If the safety check succeeds, the philosopher transitions to the EATING state and acquires both chopsticks simultaneously. If the neighbors are currently eating, the requesting thread is placed in a waiting queue and remains blocked until signaled by the monitor during a neighbor's resource release</a:t>
            </a:r>
            <a:r>
              <a:rPr sz="2400" kern="0" spc="50" dirty="0">
                <a:solidFill>
                  <a:srgbClr val="000000">
                    <a:alpha val="100000"/>
                  </a:srgbClr>
                </a:solidFill>
                <a:latin typeface="Arial" panose="020B0604020202020204"/>
                <a:ea typeface="Arial" panose="020B0604020202020204"/>
                <a:cs typeface="Arial" panose="020B0604020202020204"/>
              </a:rPr>
              <a:t>.</a:t>
            </a:r>
            <a:endParaRPr sz="2400" dirty="0">
              <a:latin typeface="Arial" panose="020B0604020202020204"/>
              <a:ea typeface="Arial" panose="020B0604020202020204"/>
              <a:cs typeface="Arial" panose="020B0604020202020204"/>
            </a:endParaRPr>
          </a:p>
        </p:txBody>
      </p:sp>
      <p:sp>
        <p:nvSpPr>
          <p:cNvPr id="6" name="textbox 74"/>
          <p:cNvSpPr/>
          <p:nvPr>
            <p:custDataLst>
              <p:tags r:id="rId13"/>
            </p:custDataLst>
          </p:nvPr>
        </p:nvSpPr>
        <p:spPr>
          <a:xfrm>
            <a:off x="1794902" y="8061474"/>
            <a:ext cx="890269" cy="786130"/>
          </a:xfrm>
          <a:prstGeom prst="rect">
            <a:avLst/>
          </a:prstGeom>
          <a:noFill/>
          <a:ln w="0" cap="flat">
            <a:noFill/>
            <a:prstDash val="solid"/>
            <a:miter lim="0"/>
          </a:ln>
        </p:spPr>
        <p:txBody>
          <a:bodyPr vert="horz" wrap="square" lIns="0" tIns="0" rIns="0" bIns="0"/>
          <a:lstStyle/>
          <a:p>
            <a:pPr algn="l" rtl="0" eaLnBrk="0">
              <a:lnSpc>
                <a:spcPct val="96000"/>
              </a:lnSpc>
            </a:pPr>
            <a:endParaRPr sz="100" dirty="0">
              <a:latin typeface="Arial" panose="020B0604020202020204"/>
              <a:ea typeface="Arial" panose="020B0604020202020204"/>
              <a:cs typeface="Arial" panose="020B0604020202020204"/>
            </a:endParaRPr>
          </a:p>
          <a:p>
            <a:pPr algn="r" rtl="0" eaLnBrk="0">
              <a:lnSpc>
                <a:spcPct val="79000"/>
              </a:lnSpc>
            </a:pPr>
            <a:r>
              <a:rPr sz="6300" b="1" kern="0" spc="-110" dirty="0">
                <a:solidFill>
                  <a:srgbClr val="FFFFFF">
                    <a:alpha val="100000"/>
                  </a:srgbClr>
                </a:solidFill>
                <a:latin typeface="Arial" panose="020B0604020202020204"/>
                <a:ea typeface="Arial" panose="020B0604020202020204"/>
                <a:cs typeface="Arial" panose="020B0604020202020204"/>
              </a:rPr>
              <a:t>0</a:t>
            </a:r>
            <a:r>
              <a:rPr lang="en-US" sz="6300" b="1" kern="0" spc="-110" dirty="0">
                <a:solidFill>
                  <a:srgbClr val="FFFFFF">
                    <a:alpha val="100000"/>
                  </a:srgbClr>
                </a:solidFill>
                <a:latin typeface="Arial" panose="020B0604020202020204"/>
                <a:ea typeface="Arial" panose="020B0604020202020204"/>
                <a:cs typeface="Arial" panose="020B0604020202020204"/>
              </a:rPr>
              <a:t>3</a:t>
            </a:r>
            <a:endParaRPr lang="en-US" sz="6300" b="1" kern="0" spc="-110" dirty="0">
              <a:solidFill>
                <a:srgbClr val="FFFFFF">
                  <a:alpha val="100000"/>
                </a:srgbClr>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 76"/>
          <p:cNvSpPr/>
          <p:nvPr/>
        </p:nvSpPr>
        <p:spPr>
          <a:xfrm>
            <a:off x="0" y="0"/>
            <a:ext cx="18288000" cy="10286997"/>
          </a:xfrm>
          <a:prstGeom prst="rect">
            <a:avLst/>
          </a:prstGeom>
          <a:solidFill>
            <a:srgbClr val="000000">
              <a:alpha val="100000"/>
            </a:srgbClr>
          </a:solidFill>
          <a:ln w="0" cap="flat">
            <a:noFill/>
            <a:prstDash val="solid"/>
            <a:miter lim="0"/>
          </a:ln>
        </p:spPr>
        <p:txBody>
          <a:bodyPr rtlCol="0"/>
          <a:lstStyle/>
          <a:p>
            <a:pPr algn="ctr"/>
            <a:r>
              <a:rPr lang="en-US" altLang="zh-CN"/>
              <a:t>package oslab6;</a:t>
            </a:r>
            <a:endParaRPr lang="en-US" altLang="zh-CN"/>
          </a:p>
          <a:p>
            <a:pPr algn="ctr"/>
            <a:r>
              <a:rPr lang="en-US" altLang="zh-CN"/>
              <a:t>import java.util.Scanner;</a:t>
            </a:r>
            <a:endParaRPr lang="en-US" altLang="zh-CN"/>
          </a:p>
          <a:p>
            <a:pPr algn="ctr"/>
            <a:r>
              <a:rPr lang="en-US" altLang="zh-CN"/>
              <a:t>public class OSLAB6 {</a:t>
            </a:r>
            <a:endParaRPr lang="en-US" altLang="zh-CN"/>
          </a:p>
          <a:p>
            <a:pPr algn="ctr"/>
            <a:r>
              <a:rPr lang="en-US" altLang="zh-CN"/>
              <a:t> </a:t>
            </a:r>
            <a:endParaRPr lang="en-US" altLang="zh-CN"/>
          </a:p>
          <a:p>
            <a:pPr algn="ctr"/>
            <a:r>
              <a:rPr lang="en-US" altLang="zh-CN"/>
              <a:t> // Number of customers</a:t>
            </a:r>
            <a:endParaRPr lang="en-US" altLang="zh-CN"/>
          </a:p>
          <a:p>
            <a:pPr algn="ctr"/>
            <a:r>
              <a:rPr lang="en-US" altLang="zh-CN"/>
              <a:t> static int totalCustomers = 3;</a:t>
            </a:r>
            <a:endParaRPr lang="en-US" altLang="zh-CN"/>
          </a:p>
          <a:p>
            <a:pPr algn="ctr"/>
            <a:r>
              <a:rPr lang="en-US" altLang="zh-CN"/>
              <a:t> // Same maximum loan limit for all customers</a:t>
            </a:r>
            <a:endParaRPr lang="en-US" altLang="zh-CN"/>
          </a:p>
          <a:p>
            <a:pPr algn="ctr"/>
            <a:r>
              <a:rPr lang="en-US" altLang="zh-CN"/>
              <a:t> static int maxCredit = 100000;</a:t>
            </a:r>
            <a:endParaRPr lang="en-US" altLang="zh-CN"/>
          </a:p>
          <a:p>
            <a:pPr algn="ctr"/>
            <a:r>
              <a:rPr lang="en-US" altLang="zh-CN"/>
              <a:t> // Current borrowed amount by customers</a:t>
            </a:r>
            <a:endParaRPr lang="en-US" altLang="zh-CN"/>
          </a:p>
          <a:p>
            <a:pPr algn="ctr"/>
            <a:r>
              <a:rPr lang="en-US" altLang="zh-CN"/>
              <a:t> static int[][] loanAmount = {</a:t>
            </a:r>
            <a:endParaRPr lang="en-US" altLang="zh-CN"/>
          </a:p>
          <a:p>
            <a:pPr algn="ctr"/>
            <a:r>
              <a:rPr lang="en-US" altLang="zh-CN"/>
              <a:t> { 20000 },</a:t>
            </a:r>
            <a:endParaRPr lang="en-US" altLang="zh-CN"/>
          </a:p>
          <a:p>
            <a:pPr algn="ctr"/>
            <a:r>
              <a:rPr lang="en-US" altLang="zh-CN"/>
              <a:t> { 30000 },</a:t>
            </a:r>
            <a:endParaRPr lang="en-US" altLang="zh-CN"/>
          </a:p>
          <a:p>
            <a:pPr algn="ctr"/>
            <a:r>
              <a:rPr lang="en-US" altLang="zh-CN"/>
              <a:t> { 15000 }</a:t>
            </a:r>
            <a:endParaRPr lang="en-US" altLang="zh-CN"/>
          </a:p>
          <a:p>
            <a:pPr algn="ctr"/>
            <a:r>
              <a:rPr lang="en-US" altLang="zh-CN"/>
              <a:t> };</a:t>
            </a:r>
            <a:endParaRPr lang="en-US" altLang="zh-CN"/>
          </a:p>
          <a:p>
            <a:pPr algn="ctr"/>
            <a:r>
              <a:rPr lang="en-US" altLang="zh-CN"/>
              <a:t> // Maximum loan each customer can borrow</a:t>
            </a:r>
            <a:endParaRPr lang="en-US" altLang="zh-CN"/>
          </a:p>
          <a:p>
            <a:pPr algn="ctr"/>
            <a:r>
              <a:rPr lang="en-US" altLang="zh-CN"/>
              <a:t> static int[][] maxLoan = new int[totalCustomers][1];</a:t>
            </a:r>
            <a:endParaRPr lang="en-US" altLang="zh-CN"/>
          </a:p>
          <a:p>
            <a:pPr algn="ctr"/>
            <a:r>
              <a:rPr lang="en-US" altLang="zh-CN"/>
              <a:t> // Remaining credit customer can still borrow</a:t>
            </a:r>
            <a:endParaRPr lang="en-US" altLang="zh-CN"/>
          </a:p>
          <a:p>
            <a:pPr algn="ctr"/>
            <a:r>
              <a:rPr lang="en-US" altLang="zh-CN"/>
              <a:t> static int[][] remainingCredit = new int[totalCustomers][1];</a:t>
            </a:r>
            <a:endParaRPr lang="en-US" altLang="zh-CN"/>
          </a:p>
          <a:p>
            <a:pPr algn="ctr"/>
            <a:r>
              <a:rPr lang="en-US" altLang="zh-CN"/>
              <a:t> // Total bank capital</a:t>
            </a:r>
            <a:endParaRPr lang="en-US" altLang="zh-CN"/>
          </a:p>
          <a:p>
            <a:pPr algn="ctr"/>
            <a:r>
              <a:rPr lang="en-US" altLang="zh-CN"/>
              <a:t> static int bankCapital = 500000;</a:t>
            </a:r>
            <a:endParaRPr lang="en-US" altLang="zh-CN"/>
          </a:p>
          <a:p>
            <a:pPr algn="ctr"/>
            <a:r>
              <a:rPr lang="en-US" altLang="zh-CN"/>
              <a:t> // Available money in bank</a:t>
            </a:r>
            <a:endParaRPr lang="en-US" altLang="zh-CN"/>
          </a:p>
          <a:p>
            <a:pPr algn="ctr"/>
            <a:r>
              <a:rPr lang="en-US" altLang="zh-CN"/>
              <a:t> static int availableFunds;</a:t>
            </a:r>
            <a:endParaRPr lang="en-US" altLang="zh-CN"/>
          </a:p>
          <a:p>
            <a:pPr algn="ctr"/>
            <a:r>
              <a:rPr lang="en-US" altLang="zh-CN"/>
              <a:t> // Initialize bank data</a:t>
            </a:r>
            <a:endParaRPr lang="en-US" altLang="zh-CN"/>
          </a:p>
          <a:p>
            <a:pPr algn="ctr"/>
            <a:r>
              <a:rPr lang="en-US" altLang="zh-CN"/>
              <a:t> static void initializeBank() {</a:t>
            </a:r>
            <a:endParaRPr lang="en-US" altLang="zh-CN"/>
          </a:p>
          <a:p>
            <a:pPr algn="ctr"/>
            <a:r>
              <a:rPr lang="en-US" altLang="zh-CN"/>
              <a:t> availableFunds = bankCapital;</a:t>
            </a:r>
            <a:endParaRPr lang="en-US" altLang="zh-CN"/>
          </a:p>
          <a:p>
            <a:pPr algn="ctr"/>
            <a:r>
              <a:rPr lang="en-US" altLang="zh-CN"/>
              <a:t> for (int i = 0; i &lt; totalCustomers; i++) {</a:t>
            </a:r>
            <a:endParaRPr lang="en-US" altLang="zh-CN"/>
          </a:p>
          <a:p>
            <a:pPr algn="ctr"/>
            <a:r>
              <a:rPr lang="en-US" altLang="zh-CN"/>
              <a:t> maxLoan[i][0] = maxCredit;</a:t>
            </a:r>
            <a:endParaRPr lang="zh-CN" altLang="en-US"/>
          </a:p>
        </p:txBody>
      </p:sp>
      <p:sp>
        <p:nvSpPr>
          <p:cNvPr id="78" name="textbox 78"/>
          <p:cNvSpPr/>
          <p:nvPr/>
        </p:nvSpPr>
        <p:spPr>
          <a:xfrm>
            <a:off x="1061216" y="776878"/>
            <a:ext cx="5816600" cy="466090"/>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algn="r" rtl="0" eaLnBrk="0">
              <a:lnSpc>
                <a:spcPct val="74000"/>
              </a:lnSpc>
            </a:pPr>
            <a:r>
              <a:rPr sz="3900" b="1" kern="0" spc="-100" dirty="0">
                <a:solidFill>
                  <a:srgbClr val="38B6FF">
                    <a:alpha val="100000"/>
                  </a:srgbClr>
                </a:solidFill>
                <a:latin typeface="Arial" panose="020B0604020202020204"/>
                <a:ea typeface="Arial" panose="020B0604020202020204"/>
                <a:cs typeface="Arial" panose="020B0604020202020204"/>
              </a:rPr>
              <a:t>CODE IMPLEMENTATION</a:t>
            </a:r>
            <a:endParaRPr sz="3900" dirty="0">
              <a:latin typeface="Arial" panose="020B0604020202020204"/>
              <a:ea typeface="Arial" panose="020B0604020202020204"/>
              <a:cs typeface="Arial" panose="020B0604020202020204"/>
            </a:endParaRPr>
          </a:p>
        </p:txBody>
      </p:sp>
      <p:pic>
        <p:nvPicPr>
          <p:cNvPr id="80" name="picture 80"/>
          <p:cNvPicPr>
            <a:picLocks noChangeAspect="1"/>
          </p:cNvPicPr>
          <p:nvPr/>
        </p:nvPicPr>
        <p:blipFill>
          <a:blip r:embed="rId1"/>
          <a:stretch>
            <a:fillRect/>
          </a:stretch>
        </p:blipFill>
        <p:spPr>
          <a:xfrm rot="21600000">
            <a:off x="1028700" y="1628775"/>
            <a:ext cx="16230600" cy="57150"/>
          </a:xfrm>
          <a:prstGeom prst="rect">
            <a:avLst/>
          </a:prstGeom>
        </p:spPr>
      </p:pic>
      <p:pic>
        <p:nvPicPr>
          <p:cNvPr id="4" name="图片 3" descr="2659ba7f-072e-4aba-bf64-aa3342b85863"/>
          <p:cNvPicPr>
            <a:picLocks noChangeAspect="1"/>
          </p:cNvPicPr>
          <p:nvPr/>
        </p:nvPicPr>
        <p:blipFill>
          <a:blip r:embed="rId2"/>
          <a:stretch>
            <a:fillRect/>
          </a:stretch>
        </p:blipFill>
        <p:spPr>
          <a:xfrm>
            <a:off x="3326765" y="2142490"/>
            <a:ext cx="11633835" cy="73698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 76"/>
          <p:cNvSpPr/>
          <p:nvPr/>
        </p:nvSpPr>
        <p:spPr>
          <a:xfrm>
            <a:off x="0" y="0"/>
            <a:ext cx="18288000" cy="10286997"/>
          </a:xfrm>
          <a:prstGeom prst="rect">
            <a:avLst/>
          </a:prstGeom>
          <a:solidFill>
            <a:srgbClr val="000000">
              <a:alpha val="100000"/>
            </a:srgbClr>
          </a:solidFill>
          <a:ln w="0" cap="flat">
            <a:noFill/>
            <a:prstDash val="solid"/>
            <a:miter lim="0"/>
          </a:ln>
        </p:spPr>
        <p:txBody>
          <a:bodyPr rtlCol="0"/>
          <a:lstStyle/>
          <a:p>
            <a:pPr algn="ctr"/>
            <a:r>
              <a:rPr lang="en-US" altLang="zh-CN"/>
              <a:t>package oslab6;</a:t>
            </a:r>
            <a:endParaRPr lang="en-US" altLang="zh-CN"/>
          </a:p>
          <a:p>
            <a:pPr algn="ctr"/>
            <a:r>
              <a:rPr lang="en-US" altLang="zh-CN"/>
              <a:t>import java.util.Scanner;</a:t>
            </a:r>
            <a:endParaRPr lang="en-US" altLang="zh-CN"/>
          </a:p>
          <a:p>
            <a:pPr algn="ctr"/>
            <a:r>
              <a:rPr lang="en-US" altLang="zh-CN"/>
              <a:t>public class OSLAB6 {</a:t>
            </a:r>
            <a:endParaRPr lang="en-US" altLang="zh-CN"/>
          </a:p>
          <a:p>
            <a:pPr algn="ctr"/>
            <a:r>
              <a:rPr lang="en-US" altLang="zh-CN"/>
              <a:t> </a:t>
            </a:r>
            <a:endParaRPr lang="en-US" altLang="zh-CN"/>
          </a:p>
          <a:p>
            <a:pPr algn="ctr"/>
            <a:r>
              <a:rPr lang="en-US" altLang="zh-CN"/>
              <a:t> // Number of customers</a:t>
            </a:r>
            <a:endParaRPr lang="en-US" altLang="zh-CN"/>
          </a:p>
          <a:p>
            <a:pPr algn="ctr"/>
            <a:r>
              <a:rPr lang="en-US" altLang="zh-CN"/>
              <a:t> static int totalCustomers = 3;</a:t>
            </a:r>
            <a:endParaRPr lang="en-US" altLang="zh-CN"/>
          </a:p>
          <a:p>
            <a:pPr algn="ctr"/>
            <a:r>
              <a:rPr lang="en-US" altLang="zh-CN"/>
              <a:t> // Same maximum loan limit for all customers</a:t>
            </a:r>
            <a:endParaRPr lang="en-US" altLang="zh-CN"/>
          </a:p>
          <a:p>
            <a:pPr algn="ctr"/>
            <a:r>
              <a:rPr lang="en-US" altLang="zh-CN"/>
              <a:t> static int maxCredit = 100000;</a:t>
            </a:r>
            <a:endParaRPr lang="en-US" altLang="zh-CN"/>
          </a:p>
          <a:p>
            <a:pPr algn="ctr"/>
            <a:r>
              <a:rPr lang="en-US" altLang="zh-CN"/>
              <a:t> // Current borrowed amount by customers</a:t>
            </a:r>
            <a:endParaRPr lang="en-US" altLang="zh-CN"/>
          </a:p>
          <a:p>
            <a:pPr algn="ctr"/>
            <a:r>
              <a:rPr lang="en-US" altLang="zh-CN"/>
              <a:t> static int[][] loanAmount = {</a:t>
            </a:r>
            <a:endParaRPr lang="en-US" altLang="zh-CN"/>
          </a:p>
          <a:p>
            <a:pPr algn="ctr"/>
            <a:r>
              <a:rPr lang="en-US" altLang="zh-CN"/>
              <a:t> { 20000 },</a:t>
            </a:r>
            <a:endParaRPr lang="en-US" altLang="zh-CN"/>
          </a:p>
          <a:p>
            <a:pPr algn="ctr"/>
            <a:r>
              <a:rPr lang="en-US" altLang="zh-CN"/>
              <a:t> { 30000 },</a:t>
            </a:r>
            <a:endParaRPr lang="en-US" altLang="zh-CN"/>
          </a:p>
          <a:p>
            <a:pPr algn="ctr"/>
            <a:r>
              <a:rPr lang="en-US" altLang="zh-CN"/>
              <a:t> { 15000 }</a:t>
            </a:r>
            <a:endParaRPr lang="en-US" altLang="zh-CN"/>
          </a:p>
          <a:p>
            <a:pPr algn="ctr"/>
            <a:r>
              <a:rPr lang="en-US" altLang="zh-CN"/>
              <a:t> };</a:t>
            </a:r>
            <a:endParaRPr lang="en-US" altLang="zh-CN"/>
          </a:p>
          <a:p>
            <a:pPr algn="ctr"/>
            <a:r>
              <a:rPr lang="en-US" altLang="zh-CN"/>
              <a:t> // Maximum loan each customer can borrow</a:t>
            </a:r>
            <a:endParaRPr lang="en-US" altLang="zh-CN"/>
          </a:p>
          <a:p>
            <a:pPr algn="ctr"/>
            <a:r>
              <a:rPr lang="en-US" altLang="zh-CN"/>
              <a:t> static int[][] maxLoan = new int[totalCustomers][1];</a:t>
            </a:r>
            <a:endParaRPr lang="en-US" altLang="zh-CN"/>
          </a:p>
          <a:p>
            <a:pPr algn="ctr"/>
            <a:r>
              <a:rPr lang="en-US" altLang="zh-CN"/>
              <a:t> // Remaining credit customer can still borrow</a:t>
            </a:r>
            <a:endParaRPr lang="en-US" altLang="zh-CN"/>
          </a:p>
          <a:p>
            <a:pPr algn="ctr"/>
            <a:r>
              <a:rPr lang="en-US" altLang="zh-CN"/>
              <a:t> static int[][] remainingCredit = new int[totalCustomers][1];</a:t>
            </a:r>
            <a:endParaRPr lang="en-US" altLang="zh-CN"/>
          </a:p>
          <a:p>
            <a:pPr algn="ctr"/>
            <a:r>
              <a:rPr lang="en-US" altLang="zh-CN"/>
              <a:t> // Total bank capital</a:t>
            </a:r>
            <a:endParaRPr lang="en-US" altLang="zh-CN"/>
          </a:p>
          <a:p>
            <a:pPr algn="ctr"/>
            <a:r>
              <a:rPr lang="en-US" altLang="zh-CN"/>
              <a:t> static int bankCapital = 500000;</a:t>
            </a:r>
            <a:endParaRPr lang="en-US" altLang="zh-CN"/>
          </a:p>
          <a:p>
            <a:pPr algn="ctr"/>
            <a:r>
              <a:rPr lang="en-US" altLang="zh-CN"/>
              <a:t> // Available money in bank</a:t>
            </a:r>
            <a:endParaRPr lang="en-US" altLang="zh-CN"/>
          </a:p>
          <a:p>
            <a:pPr algn="ctr"/>
            <a:r>
              <a:rPr lang="en-US" altLang="zh-CN"/>
              <a:t> static int availableFunds;</a:t>
            </a:r>
            <a:endParaRPr lang="en-US" altLang="zh-CN"/>
          </a:p>
          <a:p>
            <a:pPr algn="ctr"/>
            <a:r>
              <a:rPr lang="en-US" altLang="zh-CN"/>
              <a:t> // Initialize bank data</a:t>
            </a:r>
            <a:endParaRPr lang="en-US" altLang="zh-CN"/>
          </a:p>
          <a:p>
            <a:pPr algn="ctr"/>
            <a:r>
              <a:rPr lang="en-US" altLang="zh-CN"/>
              <a:t> static void initializeBank() {</a:t>
            </a:r>
            <a:endParaRPr lang="en-US" altLang="zh-CN"/>
          </a:p>
          <a:p>
            <a:pPr algn="ctr"/>
            <a:r>
              <a:rPr lang="en-US" altLang="zh-CN"/>
              <a:t> availableFunds = bankCapital;</a:t>
            </a:r>
            <a:endParaRPr lang="en-US" altLang="zh-CN"/>
          </a:p>
          <a:p>
            <a:pPr algn="ctr"/>
            <a:r>
              <a:rPr lang="en-US" altLang="zh-CN"/>
              <a:t> for (int i = 0; i &lt; totalCustomers; i++) {</a:t>
            </a:r>
            <a:endParaRPr lang="en-US" altLang="zh-CN"/>
          </a:p>
          <a:p>
            <a:pPr algn="ctr"/>
            <a:r>
              <a:rPr lang="en-US" altLang="zh-CN"/>
              <a:t> maxLoan[i][0] = maxCredit;</a:t>
            </a:r>
            <a:endParaRPr lang="zh-CN" altLang="en-US"/>
          </a:p>
        </p:txBody>
      </p:sp>
      <p:sp>
        <p:nvSpPr>
          <p:cNvPr id="78" name="textbox 78"/>
          <p:cNvSpPr/>
          <p:nvPr/>
        </p:nvSpPr>
        <p:spPr>
          <a:xfrm>
            <a:off x="1061216" y="776878"/>
            <a:ext cx="5816600" cy="466090"/>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algn="r" rtl="0" eaLnBrk="0">
              <a:lnSpc>
                <a:spcPct val="74000"/>
              </a:lnSpc>
            </a:pPr>
            <a:r>
              <a:rPr sz="3900" b="1" kern="0" spc="-100" dirty="0">
                <a:solidFill>
                  <a:srgbClr val="38B6FF">
                    <a:alpha val="100000"/>
                  </a:srgbClr>
                </a:solidFill>
                <a:latin typeface="Arial" panose="020B0604020202020204"/>
                <a:ea typeface="Arial" panose="020B0604020202020204"/>
                <a:cs typeface="Arial" panose="020B0604020202020204"/>
              </a:rPr>
              <a:t>CODE IMPLEMENTATION</a:t>
            </a:r>
            <a:endParaRPr sz="3900" dirty="0">
              <a:latin typeface="Arial" panose="020B0604020202020204"/>
              <a:ea typeface="Arial" panose="020B0604020202020204"/>
              <a:cs typeface="Arial" panose="020B0604020202020204"/>
            </a:endParaRPr>
          </a:p>
        </p:txBody>
      </p:sp>
      <p:pic>
        <p:nvPicPr>
          <p:cNvPr id="80" name="picture 80"/>
          <p:cNvPicPr>
            <a:picLocks noChangeAspect="1"/>
          </p:cNvPicPr>
          <p:nvPr/>
        </p:nvPicPr>
        <p:blipFill>
          <a:blip r:embed="rId1"/>
          <a:stretch>
            <a:fillRect/>
          </a:stretch>
        </p:blipFill>
        <p:spPr>
          <a:xfrm rot="21600000">
            <a:off x="1028700" y="1628775"/>
            <a:ext cx="16230600" cy="57150"/>
          </a:xfrm>
          <a:prstGeom prst="rect">
            <a:avLst/>
          </a:prstGeom>
        </p:spPr>
      </p:pic>
      <p:pic>
        <p:nvPicPr>
          <p:cNvPr id="4" name="图片 3" descr="2659ba7f-072e-4aba-bf64-aa3342b85863"/>
          <p:cNvPicPr>
            <a:picLocks noChangeAspect="1"/>
          </p:cNvPicPr>
          <p:nvPr/>
        </p:nvPicPr>
        <p:blipFill>
          <a:blip r:embed="rId2"/>
          <a:stretch>
            <a:fillRect/>
          </a:stretch>
        </p:blipFill>
        <p:spPr>
          <a:xfrm>
            <a:off x="3326765" y="2142490"/>
            <a:ext cx="11633835" cy="7369810"/>
          </a:xfrm>
          <a:prstGeom prst="rect">
            <a:avLst/>
          </a:prstGeom>
        </p:spPr>
      </p:pic>
      <p:pic>
        <p:nvPicPr>
          <p:cNvPr id="5" name="图片 4" descr="5399b7fa-e550-41c5-b9ff-887379714512"/>
          <p:cNvPicPr>
            <a:picLocks noChangeAspect="1"/>
          </p:cNvPicPr>
          <p:nvPr/>
        </p:nvPicPr>
        <p:blipFill>
          <a:blip r:embed="rId3"/>
          <a:stretch>
            <a:fillRect/>
          </a:stretch>
        </p:blipFill>
        <p:spPr>
          <a:xfrm>
            <a:off x="3326765" y="2145665"/>
            <a:ext cx="11633835" cy="73602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rect 76"/>
          <p:cNvSpPr/>
          <p:nvPr/>
        </p:nvSpPr>
        <p:spPr>
          <a:xfrm>
            <a:off x="0" y="0"/>
            <a:ext cx="18288000" cy="10286997"/>
          </a:xfrm>
          <a:prstGeom prst="rect">
            <a:avLst/>
          </a:prstGeom>
          <a:solidFill>
            <a:srgbClr val="000000">
              <a:alpha val="100000"/>
            </a:srgbClr>
          </a:solidFill>
          <a:ln w="0" cap="flat">
            <a:noFill/>
            <a:prstDash val="solid"/>
            <a:miter lim="0"/>
          </a:ln>
        </p:spPr>
        <p:txBody>
          <a:bodyPr rtlCol="0"/>
          <a:lstStyle/>
          <a:p>
            <a:pPr algn="ctr"/>
            <a:r>
              <a:rPr lang="en-US" altLang="zh-CN"/>
              <a:t>package oslab6;</a:t>
            </a:r>
            <a:endParaRPr lang="en-US" altLang="zh-CN"/>
          </a:p>
          <a:p>
            <a:pPr algn="ctr"/>
            <a:r>
              <a:rPr lang="en-US" altLang="zh-CN"/>
              <a:t>import java.util.Scanner;</a:t>
            </a:r>
            <a:endParaRPr lang="en-US" altLang="zh-CN"/>
          </a:p>
          <a:p>
            <a:pPr algn="ctr"/>
            <a:r>
              <a:rPr lang="en-US" altLang="zh-CN"/>
              <a:t>public class OSLAB6 {</a:t>
            </a:r>
            <a:endParaRPr lang="en-US" altLang="zh-CN"/>
          </a:p>
          <a:p>
            <a:pPr algn="ctr"/>
            <a:r>
              <a:rPr lang="en-US" altLang="zh-CN"/>
              <a:t> </a:t>
            </a:r>
            <a:endParaRPr lang="en-US" altLang="zh-CN"/>
          </a:p>
          <a:p>
            <a:pPr algn="ctr"/>
            <a:r>
              <a:rPr lang="en-US" altLang="zh-CN"/>
              <a:t> // Number of customers</a:t>
            </a:r>
            <a:endParaRPr lang="en-US" altLang="zh-CN"/>
          </a:p>
          <a:p>
            <a:pPr algn="ctr"/>
            <a:r>
              <a:rPr lang="en-US" altLang="zh-CN"/>
              <a:t> static int totalCustomers = 3;</a:t>
            </a:r>
            <a:endParaRPr lang="en-US" altLang="zh-CN"/>
          </a:p>
          <a:p>
            <a:pPr algn="ctr"/>
            <a:r>
              <a:rPr lang="en-US" altLang="zh-CN"/>
              <a:t> // Same maximum loan limit for all customers</a:t>
            </a:r>
            <a:endParaRPr lang="en-US" altLang="zh-CN"/>
          </a:p>
          <a:p>
            <a:pPr algn="ctr"/>
            <a:r>
              <a:rPr lang="en-US" altLang="zh-CN"/>
              <a:t> static int maxCredit = 100000;</a:t>
            </a:r>
            <a:endParaRPr lang="en-US" altLang="zh-CN"/>
          </a:p>
          <a:p>
            <a:pPr algn="ctr"/>
            <a:r>
              <a:rPr lang="en-US" altLang="zh-CN"/>
              <a:t> // Current borrowed amount by customers</a:t>
            </a:r>
            <a:endParaRPr lang="en-US" altLang="zh-CN"/>
          </a:p>
          <a:p>
            <a:pPr algn="ctr"/>
            <a:r>
              <a:rPr lang="en-US" altLang="zh-CN"/>
              <a:t> static int[][] loanAmount = {</a:t>
            </a:r>
            <a:endParaRPr lang="en-US" altLang="zh-CN"/>
          </a:p>
          <a:p>
            <a:pPr algn="ctr"/>
            <a:r>
              <a:rPr lang="en-US" altLang="zh-CN"/>
              <a:t> { 20000 },</a:t>
            </a:r>
            <a:endParaRPr lang="en-US" altLang="zh-CN"/>
          </a:p>
          <a:p>
            <a:pPr algn="ctr"/>
            <a:r>
              <a:rPr lang="en-US" altLang="zh-CN"/>
              <a:t> { 30000 },</a:t>
            </a:r>
            <a:endParaRPr lang="en-US" altLang="zh-CN"/>
          </a:p>
          <a:p>
            <a:pPr algn="ctr"/>
            <a:r>
              <a:rPr lang="en-US" altLang="zh-CN"/>
              <a:t> { 15000 }</a:t>
            </a:r>
            <a:endParaRPr lang="en-US" altLang="zh-CN"/>
          </a:p>
          <a:p>
            <a:pPr algn="ctr"/>
            <a:r>
              <a:rPr lang="en-US" altLang="zh-CN"/>
              <a:t> };</a:t>
            </a:r>
            <a:endParaRPr lang="en-US" altLang="zh-CN"/>
          </a:p>
          <a:p>
            <a:pPr algn="ctr"/>
            <a:r>
              <a:rPr lang="en-US" altLang="zh-CN"/>
              <a:t> // Maximum loan each customer can borrow</a:t>
            </a:r>
            <a:endParaRPr lang="en-US" altLang="zh-CN"/>
          </a:p>
          <a:p>
            <a:pPr algn="ctr"/>
            <a:r>
              <a:rPr lang="en-US" altLang="zh-CN"/>
              <a:t> static int[][] maxLoan = new int[totalCustomers][1];</a:t>
            </a:r>
            <a:endParaRPr lang="en-US" altLang="zh-CN"/>
          </a:p>
          <a:p>
            <a:pPr algn="ctr"/>
            <a:r>
              <a:rPr lang="en-US" altLang="zh-CN"/>
              <a:t> // Remaining credit customer can still borrow</a:t>
            </a:r>
            <a:endParaRPr lang="en-US" altLang="zh-CN"/>
          </a:p>
          <a:p>
            <a:pPr algn="ctr"/>
            <a:r>
              <a:rPr lang="en-US" altLang="zh-CN"/>
              <a:t> static int[][] remainingCredit = new int[totalCustomers][1];</a:t>
            </a:r>
            <a:endParaRPr lang="en-US" altLang="zh-CN"/>
          </a:p>
          <a:p>
            <a:pPr algn="ctr"/>
            <a:r>
              <a:rPr lang="en-US" altLang="zh-CN"/>
              <a:t> // Total bank capital</a:t>
            </a:r>
            <a:endParaRPr lang="en-US" altLang="zh-CN"/>
          </a:p>
          <a:p>
            <a:pPr algn="ctr"/>
            <a:r>
              <a:rPr lang="en-US" altLang="zh-CN"/>
              <a:t> static int bankCapital = 500000;</a:t>
            </a:r>
            <a:endParaRPr lang="en-US" altLang="zh-CN"/>
          </a:p>
          <a:p>
            <a:pPr algn="ctr"/>
            <a:r>
              <a:rPr lang="en-US" altLang="zh-CN"/>
              <a:t> // Available money in bank</a:t>
            </a:r>
            <a:endParaRPr lang="en-US" altLang="zh-CN"/>
          </a:p>
          <a:p>
            <a:pPr algn="ctr"/>
            <a:r>
              <a:rPr lang="en-US" altLang="zh-CN"/>
              <a:t> static int availableFunds;</a:t>
            </a:r>
            <a:endParaRPr lang="en-US" altLang="zh-CN"/>
          </a:p>
          <a:p>
            <a:pPr algn="ctr"/>
            <a:r>
              <a:rPr lang="en-US" altLang="zh-CN"/>
              <a:t> // Initialize bank data</a:t>
            </a:r>
            <a:endParaRPr lang="en-US" altLang="zh-CN"/>
          </a:p>
          <a:p>
            <a:pPr algn="ctr"/>
            <a:r>
              <a:rPr lang="en-US" altLang="zh-CN"/>
              <a:t> static void initializeBank() {</a:t>
            </a:r>
            <a:endParaRPr lang="en-US" altLang="zh-CN"/>
          </a:p>
          <a:p>
            <a:pPr algn="ctr"/>
            <a:r>
              <a:rPr lang="en-US" altLang="zh-CN"/>
              <a:t> availableFunds = bankCapital;</a:t>
            </a:r>
            <a:endParaRPr lang="en-US" altLang="zh-CN"/>
          </a:p>
          <a:p>
            <a:pPr algn="ctr"/>
            <a:r>
              <a:rPr lang="en-US" altLang="zh-CN"/>
              <a:t> for (int i = 0; i &lt; totalCustomers; i++) {</a:t>
            </a:r>
            <a:endParaRPr lang="en-US" altLang="zh-CN"/>
          </a:p>
          <a:p>
            <a:pPr algn="ctr"/>
            <a:r>
              <a:rPr lang="en-US" altLang="zh-CN"/>
              <a:t> maxLoan[i][0] = maxCredit;</a:t>
            </a:r>
            <a:endParaRPr lang="zh-CN" altLang="en-US"/>
          </a:p>
        </p:txBody>
      </p:sp>
      <p:sp>
        <p:nvSpPr>
          <p:cNvPr id="78" name="textbox 78"/>
          <p:cNvSpPr/>
          <p:nvPr/>
        </p:nvSpPr>
        <p:spPr>
          <a:xfrm>
            <a:off x="1061216" y="776878"/>
            <a:ext cx="5816600" cy="466090"/>
          </a:xfrm>
          <a:prstGeom prst="rect">
            <a:avLst/>
          </a:prstGeom>
          <a:noFill/>
          <a:ln w="0" cap="flat">
            <a:noFill/>
            <a:prstDash val="solid"/>
            <a:miter lim="0"/>
          </a:ln>
        </p:spPr>
        <p:txBody>
          <a:bodyPr vert="horz" wrap="square" lIns="0" tIns="0" rIns="0" bIns="0"/>
          <a:lstStyle/>
          <a:p>
            <a:pPr algn="l" rtl="0" eaLnBrk="0">
              <a:lnSpc>
                <a:spcPct val="87000"/>
              </a:lnSpc>
            </a:pPr>
            <a:endParaRPr sz="100" dirty="0">
              <a:latin typeface="Arial" panose="020B0604020202020204"/>
              <a:ea typeface="Arial" panose="020B0604020202020204"/>
              <a:cs typeface="Arial" panose="020B0604020202020204"/>
            </a:endParaRPr>
          </a:p>
          <a:p>
            <a:pPr algn="r" rtl="0" eaLnBrk="0">
              <a:lnSpc>
                <a:spcPct val="74000"/>
              </a:lnSpc>
            </a:pPr>
            <a:r>
              <a:rPr sz="3900" b="1" kern="0" spc="-100" dirty="0">
                <a:solidFill>
                  <a:srgbClr val="38B6FF">
                    <a:alpha val="100000"/>
                  </a:srgbClr>
                </a:solidFill>
                <a:latin typeface="Arial" panose="020B0604020202020204"/>
                <a:ea typeface="Arial" panose="020B0604020202020204"/>
                <a:cs typeface="Arial" panose="020B0604020202020204"/>
              </a:rPr>
              <a:t>CODE IMPLEMENTATION</a:t>
            </a:r>
            <a:endParaRPr sz="3900" dirty="0">
              <a:latin typeface="Arial" panose="020B0604020202020204"/>
              <a:ea typeface="Arial" panose="020B0604020202020204"/>
              <a:cs typeface="Arial" panose="020B0604020202020204"/>
            </a:endParaRPr>
          </a:p>
        </p:txBody>
      </p:sp>
      <p:pic>
        <p:nvPicPr>
          <p:cNvPr id="80" name="picture 80"/>
          <p:cNvPicPr>
            <a:picLocks noChangeAspect="1"/>
          </p:cNvPicPr>
          <p:nvPr/>
        </p:nvPicPr>
        <p:blipFill>
          <a:blip r:embed="rId1"/>
          <a:stretch>
            <a:fillRect/>
          </a:stretch>
        </p:blipFill>
        <p:spPr>
          <a:xfrm rot="21600000">
            <a:off x="1028700" y="1628775"/>
            <a:ext cx="16230600" cy="57150"/>
          </a:xfrm>
          <a:prstGeom prst="rect">
            <a:avLst/>
          </a:prstGeom>
        </p:spPr>
      </p:pic>
      <p:pic>
        <p:nvPicPr>
          <p:cNvPr id="4" name="图片 3" descr="2659ba7f-072e-4aba-bf64-aa3342b85863"/>
          <p:cNvPicPr>
            <a:picLocks noChangeAspect="1"/>
          </p:cNvPicPr>
          <p:nvPr/>
        </p:nvPicPr>
        <p:blipFill>
          <a:blip r:embed="rId2"/>
          <a:stretch>
            <a:fillRect/>
          </a:stretch>
        </p:blipFill>
        <p:spPr>
          <a:xfrm>
            <a:off x="3326765" y="2142490"/>
            <a:ext cx="11633835" cy="7369810"/>
          </a:xfrm>
          <a:prstGeom prst="rect">
            <a:avLst/>
          </a:prstGeom>
        </p:spPr>
      </p:pic>
      <p:pic>
        <p:nvPicPr>
          <p:cNvPr id="2" name="图片 1" descr="ad0de2a5-15f6-45eb-8a0d-ecde94ac72a4"/>
          <p:cNvPicPr>
            <a:picLocks noChangeAspect="1"/>
          </p:cNvPicPr>
          <p:nvPr/>
        </p:nvPicPr>
        <p:blipFill>
          <a:blip r:embed="rId3"/>
          <a:stretch>
            <a:fillRect/>
          </a:stretch>
        </p:blipFill>
        <p:spPr>
          <a:xfrm>
            <a:off x="3326765" y="2136775"/>
            <a:ext cx="11633835" cy="73647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 88"/>
          <p:cNvSpPr/>
          <p:nvPr/>
        </p:nvSpPr>
        <p:spPr>
          <a:xfrm>
            <a:off x="0" y="0"/>
            <a:ext cx="18288000" cy="10286997"/>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90" name="textbox 90"/>
          <p:cNvSpPr/>
          <p:nvPr/>
        </p:nvSpPr>
        <p:spPr>
          <a:xfrm>
            <a:off x="1084905" y="776878"/>
            <a:ext cx="6650355" cy="466725"/>
          </a:xfrm>
          <a:prstGeom prst="rect">
            <a:avLst/>
          </a:prstGeom>
          <a:noFill/>
          <a:ln w="0" cap="flat">
            <a:noFill/>
            <a:prstDash val="solid"/>
            <a:miter lim="0"/>
          </a:ln>
        </p:spPr>
        <p:txBody>
          <a:bodyPr vert="horz" wrap="square" lIns="0" tIns="0" rIns="0" bIns="0"/>
          <a:lstStyle/>
          <a:p>
            <a:pPr algn="l" rtl="0" eaLnBrk="0">
              <a:lnSpc>
                <a:spcPct val="90000"/>
              </a:lnSpc>
            </a:pPr>
            <a:endParaRPr sz="100" dirty="0">
              <a:latin typeface="Arial" panose="020B0604020202020204"/>
              <a:ea typeface="Arial" panose="020B0604020202020204"/>
              <a:cs typeface="Arial" panose="020B0604020202020204"/>
            </a:endParaRPr>
          </a:p>
          <a:p>
            <a:pPr algn="r" rtl="0" eaLnBrk="0">
              <a:lnSpc>
                <a:spcPct val="74000"/>
              </a:lnSpc>
            </a:pPr>
            <a:r>
              <a:rPr sz="3900" b="1" kern="0" spc="-140" dirty="0">
                <a:solidFill>
                  <a:srgbClr val="38B6FF">
                    <a:alpha val="100000"/>
                  </a:srgbClr>
                </a:solidFill>
                <a:latin typeface="Arial" panose="020B0604020202020204"/>
                <a:ea typeface="Arial" panose="020B0604020202020204"/>
                <a:cs typeface="Arial" panose="020B0604020202020204"/>
              </a:rPr>
              <a:t>PROGR</a:t>
            </a:r>
            <a:r>
              <a:rPr sz="3900" b="1" kern="0" spc="-130" dirty="0">
                <a:solidFill>
                  <a:srgbClr val="38B6FF">
                    <a:alpha val="100000"/>
                  </a:srgbClr>
                </a:solidFill>
                <a:latin typeface="Arial" panose="020B0604020202020204"/>
                <a:ea typeface="Arial" panose="020B0604020202020204"/>
                <a:cs typeface="Arial" panose="020B0604020202020204"/>
              </a:rPr>
              <a:t>AM SAMPLE OUTPU</a:t>
            </a:r>
            <a:r>
              <a:rPr sz="3900" b="1" kern="0" spc="-80" dirty="0">
                <a:solidFill>
                  <a:srgbClr val="38B6FF">
                    <a:alpha val="100000"/>
                  </a:srgbClr>
                </a:solidFill>
                <a:latin typeface="Arial" panose="020B0604020202020204"/>
                <a:ea typeface="Arial" panose="020B0604020202020204"/>
                <a:cs typeface="Arial" panose="020B0604020202020204"/>
              </a:rPr>
              <a:t>T</a:t>
            </a:r>
            <a:endParaRPr sz="3900" dirty="0">
              <a:latin typeface="Arial" panose="020B0604020202020204"/>
              <a:ea typeface="Arial" panose="020B0604020202020204"/>
              <a:cs typeface="Arial" panose="020B0604020202020204"/>
            </a:endParaRPr>
          </a:p>
        </p:txBody>
      </p:sp>
      <p:pic>
        <p:nvPicPr>
          <p:cNvPr id="92" name="picture 92"/>
          <p:cNvPicPr>
            <a:picLocks noChangeAspect="1"/>
          </p:cNvPicPr>
          <p:nvPr/>
        </p:nvPicPr>
        <p:blipFill>
          <a:blip r:embed="rId1"/>
          <a:stretch>
            <a:fillRect/>
          </a:stretch>
        </p:blipFill>
        <p:spPr>
          <a:xfrm rot="21600000">
            <a:off x="1028700" y="1628775"/>
            <a:ext cx="16230600" cy="57150"/>
          </a:xfrm>
          <a:prstGeom prst="rect">
            <a:avLst/>
          </a:prstGeom>
        </p:spPr>
      </p:pic>
      <p:pic>
        <p:nvPicPr>
          <p:cNvPr id="2" name="图片 1"/>
          <p:cNvPicPr>
            <a:picLocks noChangeAspect="1"/>
          </p:cNvPicPr>
          <p:nvPr/>
        </p:nvPicPr>
        <p:blipFill>
          <a:blip r:embed="rId2"/>
          <a:stretch>
            <a:fillRect/>
          </a:stretch>
        </p:blipFill>
        <p:spPr>
          <a:xfrm>
            <a:off x="2552065" y="2071370"/>
            <a:ext cx="13183870" cy="7416165"/>
          </a:xfrm>
          <a:prstGeom prst="rect">
            <a:avLst/>
          </a:prstGeom>
        </p:spPr>
      </p:pic>
      <p:pic>
        <p:nvPicPr>
          <p:cNvPr id="3" name="图片 2"/>
          <p:cNvPicPr>
            <a:picLocks noChangeAspect="1"/>
          </p:cNvPicPr>
          <p:nvPr/>
        </p:nvPicPr>
        <p:blipFill>
          <a:blip r:embed="rId3"/>
          <a:stretch>
            <a:fillRect/>
          </a:stretch>
        </p:blipFill>
        <p:spPr>
          <a:xfrm>
            <a:off x="2552065" y="2071370"/>
            <a:ext cx="13183870" cy="7411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 94"/>
          <p:cNvSpPr/>
          <p:nvPr/>
        </p:nvSpPr>
        <p:spPr>
          <a:xfrm>
            <a:off x="0" y="0"/>
            <a:ext cx="18288000" cy="10286996"/>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96" name="textbox 96"/>
          <p:cNvSpPr/>
          <p:nvPr/>
        </p:nvSpPr>
        <p:spPr>
          <a:xfrm>
            <a:off x="5562724" y="4549460"/>
            <a:ext cx="6990080" cy="1184275"/>
          </a:xfrm>
          <a:prstGeom prst="rect">
            <a:avLst/>
          </a:prstGeom>
          <a:noFill/>
          <a:ln w="0" cap="flat">
            <a:noFill/>
            <a:prstDash val="solid"/>
            <a:miter lim="0"/>
          </a:ln>
        </p:spPr>
        <p:txBody>
          <a:bodyPr vert="horz" wrap="square" lIns="0" tIns="0" rIns="0" bIns="0"/>
          <a:lstStyle/>
          <a:p>
            <a:pPr algn="l" rtl="0" eaLnBrk="0">
              <a:lnSpc>
                <a:spcPct val="35000"/>
              </a:lnSpc>
            </a:pPr>
            <a:endParaRPr sz="100" dirty="0">
              <a:latin typeface="Arial" panose="020B0604020202020204"/>
              <a:ea typeface="Arial" panose="020B0604020202020204"/>
              <a:cs typeface="Arial" panose="020B0604020202020204"/>
            </a:endParaRPr>
          </a:p>
          <a:p>
            <a:pPr algn="r" rtl="0" eaLnBrk="0">
              <a:lnSpc>
                <a:spcPct val="75000"/>
              </a:lnSpc>
            </a:pPr>
            <a:r>
              <a:rPr sz="10200" b="1" kern="0" spc="-380" dirty="0">
                <a:solidFill>
                  <a:srgbClr val="38B6FF">
                    <a:alpha val="100000"/>
                  </a:srgbClr>
                </a:solidFill>
                <a:latin typeface="Arial" panose="020B0604020202020204"/>
                <a:ea typeface="Arial" panose="020B0604020202020204"/>
                <a:cs typeface="Arial" panose="020B0604020202020204"/>
              </a:rPr>
              <a:t>THANKYOU</a:t>
            </a:r>
            <a:endParaRPr sz="10200" dirty="0">
              <a:latin typeface="Arial" panose="020B0604020202020204"/>
              <a:ea typeface="Arial" panose="020B0604020202020204"/>
              <a:cs typeface="Arial" panose="020B0604020202020204"/>
            </a:endParaRPr>
          </a:p>
        </p:txBody>
      </p:sp>
      <p:pic>
        <p:nvPicPr>
          <p:cNvPr id="98" name="picture 98"/>
          <p:cNvPicPr>
            <a:picLocks noChangeAspect="1"/>
          </p:cNvPicPr>
          <p:nvPr/>
        </p:nvPicPr>
        <p:blipFill>
          <a:blip r:embed="rId1"/>
          <a:stretch>
            <a:fillRect/>
          </a:stretch>
        </p:blipFill>
        <p:spPr>
          <a:xfrm rot="21600000">
            <a:off x="1028700" y="1019175"/>
            <a:ext cx="16230600" cy="66675"/>
          </a:xfrm>
          <a:prstGeom prst="rect">
            <a:avLst/>
          </a:prstGeom>
        </p:spPr>
      </p:pic>
      <p:pic>
        <p:nvPicPr>
          <p:cNvPr id="100" name="picture 100"/>
          <p:cNvPicPr>
            <a:picLocks noChangeAspect="1"/>
          </p:cNvPicPr>
          <p:nvPr/>
        </p:nvPicPr>
        <p:blipFill>
          <a:blip r:embed="rId2"/>
          <a:stretch>
            <a:fillRect/>
          </a:stretch>
        </p:blipFill>
        <p:spPr>
          <a:xfrm rot="21600000">
            <a:off x="1028700" y="9201151"/>
            <a:ext cx="16230600" cy="5714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546,&quot;left&quot;:84.75,&quot;top&quot;:194.25,&quot;width&quot;:1270.5}"/>
</p:tagLst>
</file>

<file path=ppt/tags/tag2.xml><?xml version="1.0" encoding="utf-8"?>
<p:tagLst xmlns:p="http://schemas.openxmlformats.org/presentationml/2006/main">
  <p:tag name="KSO_WM_DIAGRAM_VIRTUALLY_FRAME" val="{&quot;height&quot;:546,&quot;left&quot;:84.75,&quot;top&quot;:194.25,&quot;width&quot;:1270.5}"/>
</p:tagLst>
</file>

<file path=ppt/tags/tag3.xml><?xml version="1.0" encoding="utf-8"?>
<p:tagLst xmlns:p="http://schemas.openxmlformats.org/presentationml/2006/main">
  <p:tag name="KSO_WM_DIAGRAM_VIRTUALLY_FRAME" val="{&quot;height&quot;:546,&quot;left&quot;:84.75,&quot;top&quot;:194.25,&quot;width&quot;:1270.5}"/>
</p:tagLst>
</file>

<file path=ppt/tags/tag4.xml><?xml version="1.0" encoding="utf-8"?>
<p:tagLst xmlns:p="http://schemas.openxmlformats.org/presentationml/2006/main">
  <p:tag name="KSO_WM_DIAGRAM_VIRTUALLY_FRAME" val="{&quot;height&quot;:546,&quot;left&quot;:84.75,&quot;top&quot;:194.25,&quot;width&quot;:1270.5}"/>
</p:tagLst>
</file>

<file path=ppt/tags/tag5.xml><?xml version="1.0" encoding="utf-8"?>
<p:tagLst xmlns:p="http://schemas.openxmlformats.org/presentationml/2006/main">
  <p:tag name="KSO_WM_DIAGRAM_VIRTUALLY_FRAME" val="{&quot;height&quot;:546,&quot;left&quot;:84.75,&quot;top&quot;:194.25,&quot;width&quot;:1270.5}"/>
</p:tagLst>
</file>

<file path=ppt/tags/tag6.xml><?xml version="1.0" encoding="utf-8"?>
<p:tagLst xmlns:p="http://schemas.openxmlformats.org/presentationml/2006/main">
  <p:tag name="KSO_WM_DIAGRAM_VIRTUALLY_FRAME" val="{&quot;height&quot;:546,&quot;left&quot;:84.75,&quot;top&quot;:194.25,&quot;width&quot;:1270.5}"/>
</p:tagLst>
</file>

<file path=ppt/tags/tag7.xml><?xml version="1.0" encoding="utf-8"?>
<p:tagLst xmlns:p="http://schemas.openxmlformats.org/presentationml/2006/main">
  <p:tag name="KSO_WM_DIAGRAM_VIRTUALLY_FRAME" val="{&quot;height&quot;:546,&quot;left&quot;:84.75,&quot;top&quot;:194.25,&quot;width&quot;:1270.5}"/>
</p:tagLst>
</file>

<file path=ppt/tags/tag8.xml><?xml version="1.0" encoding="utf-8"?>
<p:tagLst xmlns:p="http://schemas.openxmlformats.org/presentationml/2006/main">
  <p:tag name="KSO_WM_DIAGRAM_VIRTUALLY_FRAME" val="{&quot;height&quot;:546,&quot;left&quot;:84.75,&quot;top&quot;:194.25,&quot;width&quot;:1270.5}"/>
</p:tagLst>
</file>

<file path=ppt/tags/tag9.xml><?xml version="1.0" encoding="utf-8"?>
<p:tagLst xmlns:p="http://schemas.openxmlformats.org/presentationml/2006/main">
  <p:tag name="KSO_WM_DIAGRAM_VIRTUALLY_FRAME" val="{&quot;height&quot;:546,&quot;left&quot;:84.75,&quot;top&quot;:194.25,&quot;width&quot;:1270.5}"/>
</p:tagLst>
</file>

<file path=ppt/tags/tag10.xml><?xml version="1.0" encoding="utf-8"?>
<p:tagLst xmlns:p="http://schemas.openxmlformats.org/presentationml/2006/main">
  <p:tag name="KSO_WM_DIAGRAM_VIRTUALLY_FRAME" val="{&quot;height&quot;:546,&quot;left&quot;:84.75,&quot;top&quot;:194.25,&quot;width&quot;:1270.5}"/>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6204</Words>
  <Application>WPS 演示</Application>
  <PresentationFormat/>
  <Paragraphs>146</Paragraphs>
  <Slides>9</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9</vt:i4>
      </vt:variant>
    </vt:vector>
  </HeadingPairs>
  <TitlesOfParts>
    <vt:vector size="19" baseType="lpstr">
      <vt:lpstr>Arial</vt:lpstr>
      <vt:lpstr>宋体</vt:lpstr>
      <vt:lpstr>Wingdings</vt:lpstr>
      <vt:lpstr>Arial</vt:lpstr>
      <vt:lpstr>Google Sans Text</vt:lpstr>
      <vt:lpstr>Segoe Print</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Fortunate Son</cp:lastModifiedBy>
  <cp:revision>11</cp:revision>
  <dcterms:created xsi:type="dcterms:W3CDTF">2026-04-21T22:46:00Z</dcterms:created>
  <dcterms:modified xsi:type="dcterms:W3CDTF">2026-05-08T00:49:49Z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wqlLaW5nc29mdCBQREYgdG8gV1BTIDEyMA</vt:lpwstr>
  </property>
  <property fmtid="{D5CDD505-2E9C-101B-9397-08002B2CF9AE}" pid="3" name="Created">
    <vt:filetime>2026-04-25T06:42:18Z</vt:filetime>
  </property>
  <property fmtid="{D5CDD505-2E9C-101B-9397-08002B2CF9AE}" pid="4" name="KSOProductBuildVer">
    <vt:lpwstr>2052-12.1.0.25865</vt:lpwstr>
  </property>
  <property fmtid="{D5CDD505-2E9C-101B-9397-08002B2CF9AE}" pid="5" name="ICV">
    <vt:lpwstr>28370B8E47044A2399F5A0BBC9F330C3_13</vt:lpwstr>
  </property>
</Properties>
</file>